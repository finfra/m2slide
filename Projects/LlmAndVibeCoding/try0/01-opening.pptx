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AI 코딩의 패러다임 전환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 방식의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2022년 이전</a:t>
            </a:r>
            <a:r>
              <a:rPr/>
              <a:t> - 개발자가 코드를 한 줄 한 줄 직접 타이핑 - Stack Overflow와 문서 검색에 의존 - 반복적인 코딩 작업에 많은 시간 소요</a:t>
            </a:r>
          </a:p>
          <a:p>
            <a:pPr lvl="0" indent="0" marL="0">
              <a:buNone/>
            </a:pPr>
            <a:r>
              <a:rPr b="1"/>
              <a:t>2022년 ChatGPT 등장</a:t>
            </a:r>
            <a:r>
              <a:rPr/>
              <a:t> - 자연어로 질문하고 코드 조각을 얻는 방식 시작 - 개발 보조 도구로서 LLM 활용 증가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 방식의 변화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2023년 IDE 통합</a:t>
            </a:r>
            <a:r>
              <a:rPr/>
              <a:t> - GitHub Copilot, Cursor 등 IDE 내 실시간 코드 제안 - 개발 흐름을 끊지 않는 인라인 자동완성 - 프로젝트 컨텍스트를 일부 이해하기 시작</a:t>
            </a:r>
          </a:p>
          <a:p>
            <a:pPr lvl="0" indent="0" marL="0">
              <a:buNone/>
            </a:pPr>
            <a:r>
              <a:rPr b="1"/>
              <a:t>2024년 CLI 기반 코딩 시대</a:t>
            </a:r>
            <a:r>
              <a:rPr/>
              <a:t> - 터미널에서 실행되는 AI 도구 등장 (Claude Code, Gemini CLI) - AI가 전체 프로젝트를 이해하고 파일을 직접 수정 - 에이전트처럼 자율적으로 멀티파일 작업 수행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변화의 속도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ChatGPT</a:t>
            </a:r>
            <a:r>
              <a:rPr/>
              <a:t>: 출시 후 2개월 만에 1억 사용자 돌파</a:t>
            </a:r>
          </a:p>
          <a:p>
            <a:pPr lvl="0"/>
            <a:r>
              <a:rPr b="1"/>
              <a:t>생산성 향상</a:t>
            </a:r>
            <a:r>
              <a:rPr/>
              <a:t>: GitHub Copilot 도입 기업의 개발자 생산성 55% 증가</a:t>
            </a:r>
          </a:p>
          <a:p>
            <a:pPr lvl="0"/>
            <a:r>
              <a:rPr b="1"/>
              <a:t>시장 성장</a:t>
            </a:r>
            <a:r>
              <a:rPr/>
              <a:t>: AI 코딩 도구 시장, 2024년 기준 연 100% 이상 성장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기술적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LLM 성능 향상</a:t>
            </a:r>
            <a:r>
              <a:rPr/>
              <a:t> - GPT-4, Claude 3.5 Sonnet 등 강력한 모델 등장 - 코드 이해 및 생성 능력 비약적 발전</a:t>
            </a:r>
          </a:p>
          <a:p>
            <a:pPr lvl="0" indent="0" marL="0">
              <a:buNone/>
            </a:pPr>
            <a:r>
              <a:rPr b="1"/>
              <a:t>컨텍스트 윈도우 확대</a:t>
            </a:r>
            <a:r>
              <a:rPr/>
              <a:t> - 초기 4K 토큰 → 현재 200K 토큰 이상 - 전체 코드베이스를 한 번에 이해 가능</a:t>
            </a:r>
          </a:p>
          <a:p>
            <a:pPr lvl="0" indent="0" marL="0">
              <a:buNone/>
            </a:pPr>
            <a:r>
              <a:rPr b="1"/>
              <a:t>개발 도구 통합</a:t>
            </a:r>
            <a:r>
              <a:rPr/>
              <a:t> - IDE, CLI, 에디터와의 원활한 연동 - 파일 시스템 직접 접근 및 수정 가능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패러다임 전환: Code-First → Intent-First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전통적 개발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아이디어 → 코드 작성 → 실행 → 디버깅 → 수정 → 반복</a:t>
            </a:r>
          </a:p>
          <a:p>
            <a:pPr lvl="0"/>
            <a:r>
              <a:rPr/>
              <a:t>모든 코드를 개발자가 직접 작성</a:t>
            </a:r>
          </a:p>
          <a:p>
            <a:pPr lvl="0"/>
            <a:r>
              <a:rPr/>
              <a:t>문법과 API 세부사항 암기 필요</a:t>
            </a:r>
          </a:p>
          <a:p>
            <a:pPr lvl="0"/>
            <a:r>
              <a:rPr/>
              <a:t>반복적인 보일러플레이트 코드 작성</a:t>
            </a:r>
          </a:p>
          <a:p>
            <a:pPr lvl="0" indent="0" marL="0">
              <a:buNone/>
            </a:pPr>
            <a:r>
              <a:rPr b="1"/>
              <a:t>AI 시대 개발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의도 → 자연어 설명 → AI 코드 생성 → 검토 및 수정 → 완료</a:t>
            </a:r>
          </a:p>
          <a:p>
            <a:pPr lvl="0"/>
            <a:r>
              <a:rPr/>
              <a:t>“무엇을” 만들지 설명하면 AI가 “어떻게” 구현</a:t>
            </a:r>
          </a:p>
          <a:p>
            <a:pPr lvl="0"/>
            <a:r>
              <a:rPr/>
              <a:t>고수준 설계와 비즈니스 로직에 집중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개발자 역할의 변화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전통적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시대 개발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역할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작성자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의도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필요 역량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문법 전문가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아키텍처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디버깅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검토 중심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시간 배분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작업 수행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창의적 문제 해결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개발자는 더 이상 “코드 타이핑 기계”가 아닌 </a:t>
            </a:r>
            <a:r>
              <a:rPr sz="2000" b="1"/>
              <a:t>“시스템 설계자이자 품질 관리자”</a:t>
            </a:r>
            <a:r>
              <a:rPr sz="2000"/>
              <a:t>로 진화하고 있습니다.</a:t>
            </a:r>
          </a:p>
          <a:p>
            <a:pPr lvl="0"/>
            <a:r>
              <a:rPr b="1"/>
              <a:t>반복 작업 자동화</a:t>
            </a:r>
            <a:r>
              <a:rPr/>
              <a:t>: 보일러플레이트, CRUD, 테스트 코드 등</a:t>
            </a:r>
          </a:p>
          <a:p>
            <a:pPr lvl="0"/>
            <a:r>
              <a:rPr b="1"/>
              <a:t>창의성 증대</a:t>
            </a:r>
            <a:r>
              <a:rPr/>
              <a:t>: 비즈니스 로직과 사용자 경험 개선에 집중</a:t>
            </a:r>
          </a:p>
          <a:p>
            <a:pPr lvl="0"/>
            <a:r>
              <a:rPr b="1"/>
              <a:t>생산성 향상</a:t>
            </a:r>
            <a:r>
              <a:rPr/>
              <a:t>: 같은 시간에 더 많은 가치 창출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본 자료의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LLM 코딩 툴의 진화 과정</a:t>
            </a:r>
            <a:r>
              <a:rPr/>
              <a:t> (2022-2024)</a:t>
            </a:r>
          </a:p>
          <a:p>
            <a:pPr lvl="0" indent="-342900" marL="342900">
              <a:buAutoNum type="arabicPeriod"/>
            </a:pPr>
            <a:r>
              <a:rPr b="1"/>
              <a:t>바이브 코딩(VibeCoding)</a:t>
            </a:r>
            <a:r>
              <a:rPr/>
              <a:t> 개념과 철학</a:t>
            </a:r>
          </a:p>
          <a:p>
            <a:pPr lvl="0" indent="-342900" marL="342900">
              <a:buAutoNum type="arabicPeriod"/>
            </a:pPr>
            <a:r>
              <a:rPr b="1"/>
              <a:t>세대 구분</a:t>
            </a:r>
            <a:r>
              <a:rPr/>
              <a:t>: IDE 기반(1세대) vs CLI 기반(2세대)</a:t>
            </a:r>
          </a:p>
          <a:p>
            <a:pPr lvl="0" indent="-342900" marL="342900">
              <a:buAutoNum type="arabicPeriod"/>
            </a:pPr>
            <a:r>
              <a:rPr b="1"/>
              <a:t>세대별 비교</a:t>
            </a:r>
            <a:r>
              <a:rPr/>
              <a:t> 및 선택 가이드</a:t>
            </a:r>
          </a:p>
          <a:p>
            <a:pPr lvl="0" indent="-342900" marL="342900">
              <a:buAutoNum type="arabicPeriod"/>
            </a:pPr>
            <a:r>
              <a:rPr b="1"/>
              <a:t>실전 사례</a:t>
            </a:r>
            <a:r>
              <a:rPr/>
              <a:t>와 활용법</a:t>
            </a:r>
          </a:p>
          <a:p>
            <a:pPr lvl="0" indent="-342900" marL="342900">
              <a:buAutoNum type="arabicPeriod"/>
            </a:pPr>
            <a:r>
              <a:rPr b="1"/>
              <a:t>도입 로드맵</a:t>
            </a:r>
            <a:r>
              <a:rPr/>
              <a:t>과 실천 전략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