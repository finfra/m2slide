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2" Type="http://schemas.openxmlformats.org/officeDocument/2006/relationships/slide" Target="slides/slide91.xml" /><Relationship Id="rId93" Type="http://schemas.openxmlformats.org/officeDocument/2006/relationships/slide" Target="slides/slide92.xml" /><Relationship Id="rId94" Type="http://schemas.openxmlformats.org/officeDocument/2006/relationships/slide" Target="slides/slide93.xml" /><Relationship Id="rId95" Type="http://schemas.openxmlformats.org/officeDocument/2006/relationships/slide" Target="slides/slide94.xml" /><Relationship Id="rId96" Type="http://schemas.openxmlformats.org/officeDocument/2006/relationships/slide" Target="slides/slide95.xml" /><Relationship Id="rId97" Type="http://schemas.openxmlformats.org/officeDocument/2006/relationships/slide" Target="slides/slide96.xml" /><Relationship Id="rId98" Type="http://schemas.openxmlformats.org/officeDocument/2006/relationships/slide" Target="slides/slide97.xml" /><Relationship Id="rId99" Type="http://schemas.openxmlformats.org/officeDocument/2006/relationships/slide" Target="slides/slide98.xml" /><Relationship Id="rId100" Type="http://schemas.openxmlformats.org/officeDocument/2006/relationships/slide" Target="slides/slide99.xml" /><Relationship Id="rId101" Type="http://schemas.openxmlformats.org/officeDocument/2006/relationships/slide" Target="slides/slide100.xml" /><Relationship Id="rId102" Type="http://schemas.openxmlformats.org/officeDocument/2006/relationships/slide" Target="slides/slide101.xml" /><Relationship Id="rId103" Type="http://schemas.openxmlformats.org/officeDocument/2006/relationships/slide" Target="slides/slide102.xml" /><Relationship Id="rId104" Type="http://schemas.openxmlformats.org/officeDocument/2006/relationships/slide" Target="slides/slide103.xml" /><Relationship Id="rId105" Type="http://schemas.openxmlformats.org/officeDocument/2006/relationships/slide" Target="slides/slide104.xml" /><Relationship Id="rId106" Type="http://schemas.openxmlformats.org/officeDocument/2006/relationships/slide" Target="slides/slide105.xml" /><Relationship Id="rId107" Type="http://schemas.openxmlformats.org/officeDocument/2006/relationships/slide" Target="slides/slide106.xml" /><Relationship Id="rId108" Type="http://schemas.openxmlformats.org/officeDocument/2006/relationships/slide" Target="slides/slide107.xml" /><Relationship Id="rId109" Type="http://schemas.openxmlformats.org/officeDocument/2006/relationships/slide" Target="slides/slide108.xml" /><Relationship Id="rId110" Type="http://schemas.openxmlformats.org/officeDocument/2006/relationships/slide" Target="slides/slide109.xml" /><Relationship Id="rId111" Type="http://schemas.openxmlformats.org/officeDocument/2006/relationships/slide" Target="slides/slide110.xml" /><Relationship Id="rId112" Type="http://schemas.openxmlformats.org/officeDocument/2006/relationships/slide" Target="slides/slide111.xml" /><Relationship Id="rId113" Type="http://schemas.openxmlformats.org/officeDocument/2006/relationships/slide" Target="slides/slide112.xml" /><Relationship Id="rId114" Type="http://schemas.openxmlformats.org/officeDocument/2006/relationships/slide" Target="slides/slide113.xml" /><Relationship Id="rId115" Type="http://schemas.openxmlformats.org/officeDocument/2006/relationships/slide" Target="slides/slide114.xml" /><Relationship Id="rId116" Type="http://schemas.openxmlformats.org/officeDocument/2006/relationships/slide" Target="slides/slide115.xml" /><Relationship Id="rId117" Type="http://schemas.openxmlformats.org/officeDocument/2006/relationships/slide" Target="slides/slide116.xml" /><Relationship Id="rId118" Type="http://schemas.openxmlformats.org/officeDocument/2006/relationships/slide" Target="slides/slide117.xml" /><Relationship Id="rId119" Type="http://schemas.openxmlformats.org/officeDocument/2006/relationships/slide" Target="slides/slide118.xml" /><Relationship Id="rId120" Type="http://schemas.openxmlformats.org/officeDocument/2006/relationships/slide" Target="slides/slide119.xml" /><Relationship Id="rId121" Type="http://schemas.openxmlformats.org/officeDocument/2006/relationships/slide" Target="slides/slide120.xml" /><Relationship Id="rId122" Type="http://schemas.openxmlformats.org/officeDocument/2006/relationships/slide" Target="slides/slide121.xml" /><Relationship Id="rId123" Type="http://schemas.openxmlformats.org/officeDocument/2006/relationships/slide" Target="slides/slide122.xml" /><Relationship Id="rId124" Type="http://schemas.openxmlformats.org/officeDocument/2006/relationships/slide" Target="slides/slide123.xml" /><Relationship Id="rId125" Type="http://schemas.openxmlformats.org/officeDocument/2006/relationships/slide" Target="slides/slide124.xml" /><Relationship Id="rId126" Type="http://schemas.openxmlformats.org/officeDocument/2006/relationships/slide" Target="slides/slide125.xml" /><Relationship Id="rId127" Type="http://schemas.openxmlformats.org/officeDocument/2006/relationships/slide" Target="slides/slide126.xml" /><Relationship Id="rId128" Type="http://schemas.openxmlformats.org/officeDocument/2006/relationships/slide" Target="slides/slide127.xml" /><Relationship Id="rId129" Type="http://schemas.openxmlformats.org/officeDocument/2006/relationships/slide" Target="slides/slide128.xml" /><Relationship Id="rId130" Type="http://schemas.openxmlformats.org/officeDocument/2006/relationships/slide" Target="slides/slide129.xml" /><Relationship Id="rId131" Type="http://schemas.openxmlformats.org/officeDocument/2006/relationships/slide" Target="slides/slide130.xml" /><Relationship Id="rId132" Type="http://schemas.openxmlformats.org/officeDocument/2006/relationships/slide" Target="slides/slide131.xml" /><Relationship Id="rId133" Type="http://schemas.openxmlformats.org/officeDocument/2006/relationships/slide" Target="slides/slide132.xml" /><Relationship Id="rId134" Type="http://schemas.openxmlformats.org/officeDocument/2006/relationships/slide" Target="slides/slide133.xml" /><Relationship Id="rId135" Type="http://schemas.openxmlformats.org/officeDocument/2006/relationships/slide" Target="slides/slide134.xml" /><Relationship Id="rId136" Type="http://schemas.openxmlformats.org/officeDocument/2006/relationships/slide" Target="slides/slide135.xml" /><Relationship Id="rId137" Type="http://schemas.openxmlformats.org/officeDocument/2006/relationships/slide" Target="slides/slide136.xml" /><Relationship Id="rId138" Type="http://schemas.openxmlformats.org/officeDocument/2006/relationships/slide" Target="slides/slide137.xml" /><Relationship Id="rId139" Type="http://schemas.openxmlformats.org/officeDocument/2006/relationships/slide" Target="slides/slide138.xml" /><Relationship Id="rId140" Type="http://schemas.openxmlformats.org/officeDocument/2006/relationships/slide" Target="slides/slide139.xml" /><Relationship Id="rId141" Type="http://schemas.openxmlformats.org/officeDocument/2006/relationships/slide" Target="slides/slide140.xml" /><Relationship Id="rId142" Type="http://schemas.openxmlformats.org/officeDocument/2006/relationships/slide" Target="slides/slide141.xml" /><Relationship Id="rId143" Type="http://schemas.openxmlformats.org/officeDocument/2006/relationships/slide" Target="slides/slide142.xml" /><Relationship Id="rId144" Type="http://schemas.openxmlformats.org/officeDocument/2006/relationships/slide" Target="slides/slide143.xml" /><Relationship Id="rId145" Type="http://schemas.openxmlformats.org/officeDocument/2006/relationships/slide" Target="slides/slide144.xml" /><Relationship Id="rId146" Type="http://schemas.openxmlformats.org/officeDocument/2006/relationships/slide" Target="slides/slide145.xml" /><Relationship Id="rId147" Type="http://schemas.openxmlformats.org/officeDocument/2006/relationships/slide" Target="slides/slide146.xml" /><Relationship Id="rId148" Type="http://schemas.openxmlformats.org/officeDocument/2006/relationships/slide" Target="slides/slide147.xml" /><Relationship Id="rId149" Type="http://schemas.openxmlformats.org/officeDocument/2006/relationships/slide" Target="slides/slide148.xml" /><Relationship Id="rId150" Type="http://schemas.openxmlformats.org/officeDocument/2006/relationships/slide" Target="slides/slide149.xml" /><Relationship Id="rId151" Type="http://schemas.openxmlformats.org/officeDocument/2006/relationships/slide" Target="slides/slide150.xml" /><Relationship Id="rId152" Type="http://schemas.openxmlformats.org/officeDocument/2006/relationships/slide" Target="slides/slide151.xml" /><Relationship Id="rId153" Type="http://schemas.openxmlformats.org/officeDocument/2006/relationships/slide" Target="slides/slide152.xml" /><Relationship Id="rId154" Type="http://schemas.openxmlformats.org/officeDocument/2006/relationships/slide" Target="slides/slide153.xml" /><Relationship Id="rId155" Type="http://schemas.openxmlformats.org/officeDocument/2006/relationships/slide" Target="slides/slide154.xml" /><Relationship Id="rId156" Type="http://schemas.openxmlformats.org/officeDocument/2006/relationships/slide" Target="slides/slide155.xml" /><Relationship Id="rId157" Type="http://schemas.openxmlformats.org/officeDocument/2006/relationships/slide" Target="slides/slide156.xml" /><Relationship Id="rId158" Type="http://schemas.openxmlformats.org/officeDocument/2006/relationships/slide" Target="slides/slide157.xml" /><Relationship Id="rId159" Type="http://schemas.openxmlformats.org/officeDocument/2006/relationships/slide" Target="slides/slide158.xml" /><Relationship Id="rId160" Type="http://schemas.openxmlformats.org/officeDocument/2006/relationships/slide" Target="slides/slide159.xml" /><Relationship Id="rId161" Type="http://schemas.openxmlformats.org/officeDocument/2006/relationships/slide" Target="slides/slide160.xml" /><Relationship Id="rId162" Type="http://schemas.openxmlformats.org/officeDocument/2006/relationships/slide" Target="slides/slide161.xml" /><Relationship Id="rId163" Type="http://schemas.openxmlformats.org/officeDocument/2006/relationships/slide" Target="slides/slide162.xml" /><Relationship Id="rId164" Type="http://schemas.openxmlformats.org/officeDocument/2006/relationships/slide" Target="slides/slide163.xml" /><Relationship Id="rId165" Type="http://schemas.openxmlformats.org/officeDocument/2006/relationships/slide" Target="slides/slide164.xml" /><Relationship Id="rId166" Type="http://schemas.openxmlformats.org/officeDocument/2006/relationships/slide" Target="slides/slide165.xml" /><Relationship Id="rId167" Type="http://schemas.openxmlformats.org/officeDocument/2006/relationships/slide" Target="slides/slide166.xml" /><Relationship Id="rId168" Type="http://schemas.openxmlformats.org/officeDocument/2006/relationships/slide" Target="slides/slide167.xml" /><Relationship Id="rId169" Type="http://schemas.openxmlformats.org/officeDocument/2006/relationships/slide" Target="slides/slide168.xml" /><Relationship Id="rId170" Type="http://schemas.openxmlformats.org/officeDocument/2006/relationships/slide" Target="slides/slide169.xml" /><Relationship Id="rId171" Type="http://schemas.openxmlformats.org/officeDocument/2006/relationships/slide" Target="slides/slide170.xml" /><Relationship Id="rId172" Type="http://schemas.openxmlformats.org/officeDocument/2006/relationships/slide" Target="slides/slide171.xml" /><Relationship Id="rId173" Type="http://schemas.openxmlformats.org/officeDocument/2006/relationships/slide" Target="slides/slide172.xml" /><Relationship Id="rId174" Type="http://schemas.openxmlformats.org/officeDocument/2006/relationships/slide" Target="slides/slide173.xml" /><Relationship Id="rId175" Type="http://schemas.openxmlformats.org/officeDocument/2006/relationships/slide" Target="slides/slide174.xml" /><Relationship Id="rId176" Type="http://schemas.openxmlformats.org/officeDocument/2006/relationships/slide" Target="slides/slide175.xml" /><Relationship Id="rId177" Type="http://schemas.openxmlformats.org/officeDocument/2006/relationships/slide" Target="slides/slide176.xml" /><Relationship Id="rId178" Type="http://schemas.openxmlformats.org/officeDocument/2006/relationships/slide" Target="slides/slide177.xml" /><Relationship Id="rId179" Type="http://schemas.openxmlformats.org/officeDocument/2006/relationships/slide" Target="slides/slide178.xml" /><Relationship Id="rId180" Type="http://schemas.openxmlformats.org/officeDocument/2006/relationships/slide" Target="slides/slide179.xml" /><Relationship Id="rId181" Type="http://schemas.openxmlformats.org/officeDocument/2006/relationships/slide" Target="slides/slide180.xml" /><Relationship Id="rId182" Type="http://schemas.openxmlformats.org/officeDocument/2006/relationships/slide" Target="slides/slide181.xml" /><Relationship Id="rId183" Type="http://schemas.openxmlformats.org/officeDocument/2006/relationships/slide" Target="slides/slide182.xml" /><Relationship Id="rId184" Type="http://schemas.openxmlformats.org/officeDocument/2006/relationships/slide" Target="slides/slide183.xml" /><Relationship Id="rId185" Type="http://schemas.openxmlformats.org/officeDocument/2006/relationships/slide" Target="slides/slide184.xml" /><Relationship Id="rId186" Type="http://schemas.openxmlformats.org/officeDocument/2006/relationships/slide" Target="slides/slide185.xml" /><Relationship Id="rId187" Type="http://schemas.openxmlformats.org/officeDocument/2006/relationships/slide" Target="slides/slide186.xml" /><Relationship Id="rId188" Type="http://schemas.openxmlformats.org/officeDocument/2006/relationships/slide" Target="slides/slide187.xml" /><Relationship Id="rId189" Type="http://schemas.openxmlformats.org/officeDocument/2006/relationships/slide" Target="slides/slide188.xml" /><Relationship Id="rId190" Type="http://schemas.openxmlformats.org/officeDocument/2006/relationships/slide" Target="slides/slide189.xml" /><Relationship Id="rId191" Type="http://schemas.openxmlformats.org/officeDocument/2006/relationships/slide" Target="slides/slide190.xml" /><Relationship Id="rId192" Type="http://schemas.openxmlformats.org/officeDocument/2006/relationships/slide" Target="slides/slide191.xml" /><Relationship Id="rId193" Type="http://schemas.openxmlformats.org/officeDocument/2006/relationships/slide" Target="slides/slide192.xml" /><Relationship Id="rId194" Type="http://schemas.openxmlformats.org/officeDocument/2006/relationships/slide" Target="slides/slide193.xml" /><Relationship Id="rId195" Type="http://schemas.openxmlformats.org/officeDocument/2006/relationships/slide" Target="slides/slide194.xml" /><Relationship Id="rId196" Type="http://schemas.openxmlformats.org/officeDocument/2006/relationships/slide" Target="slides/slide195.xml" /><Relationship Id="rId197" Type="http://schemas.openxmlformats.org/officeDocument/2006/relationships/slide" Target="slides/slide196.xml" /><Relationship Id="rId198" Type="http://schemas.openxmlformats.org/officeDocument/2006/relationships/slide" Target="slides/slide197.xml" /><Relationship Id="rId199" Type="http://schemas.openxmlformats.org/officeDocument/2006/relationships/slide" Target="slides/slide198.xml" /><Relationship Id="rId200" Type="http://schemas.openxmlformats.org/officeDocument/2006/relationships/slide" Target="slides/slide199.xml" /><Relationship Id="rId201" Type="http://schemas.openxmlformats.org/officeDocument/2006/relationships/slide" Target="slides/slide200.xml" /><Relationship Id="rId202" Type="http://schemas.openxmlformats.org/officeDocument/2006/relationships/slide" Target="slides/slide201.xml" /><Relationship Id="rId203" Type="http://schemas.openxmlformats.org/officeDocument/2006/relationships/slide" Target="slides/slide202.xml" /><Relationship Id="rId204" Type="http://schemas.openxmlformats.org/officeDocument/2006/relationships/slide" Target="slides/slide203.xml" /><Relationship Id="rId205" Type="http://schemas.openxmlformats.org/officeDocument/2006/relationships/slide" Target="slides/slide204.xml" /><Relationship Id="rId206" Type="http://schemas.openxmlformats.org/officeDocument/2006/relationships/slide" Target="slides/slide205.xml" /><Relationship Id="rId207" Type="http://schemas.openxmlformats.org/officeDocument/2006/relationships/slide" Target="slides/slide206.xml" /><Relationship Id="rId208" Type="http://schemas.openxmlformats.org/officeDocument/2006/relationships/slide" Target="slides/slide207.xml" /><Relationship Id="rId209" Type="http://schemas.openxmlformats.org/officeDocument/2006/relationships/slide" Target="slides/slide208.xml" /><Relationship Id="rId210" Type="http://schemas.openxmlformats.org/officeDocument/2006/relationships/slide" Target="slides/slide209.xml" /><Relationship Id="rId211" Type="http://schemas.openxmlformats.org/officeDocument/2006/relationships/slide" Target="slides/slide210.xml" /><Relationship Id="rId212" Type="http://schemas.openxmlformats.org/officeDocument/2006/relationships/slide" Target="slides/slide211.xml" /><Relationship Id="rId213" Type="http://schemas.openxmlformats.org/officeDocument/2006/relationships/slide" Target="slides/slide212.xml" /><Relationship Id="rId214" Type="http://schemas.openxmlformats.org/officeDocument/2006/relationships/slide" Target="slides/slide213.xml" /><Relationship Id="rId215" Type="http://schemas.openxmlformats.org/officeDocument/2006/relationships/slide" Target="slides/slide214.xml" /><Relationship Id="rId216" Type="http://schemas.openxmlformats.org/officeDocument/2006/relationships/slide" Target="slides/slide215.xml" /><Relationship Id="rId217" Type="http://schemas.openxmlformats.org/officeDocument/2006/relationships/slide" Target="slides/slide216.xml" /><Relationship Id="rId219" Type="http://schemas.openxmlformats.org/officeDocument/2006/relationships/viewProps" Target="viewProps.xml" /><Relationship Id="rId2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1" Type="http://schemas.openxmlformats.org/officeDocument/2006/relationships/tableStyles" Target="tableStyles.xml" /><Relationship Id="rId2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 AI 코딩의 패러다임 전환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개발 방식의 변화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2022년 이전</a:t>
            </a:r>
            <a:r>
              <a:rPr/>
              <a:t> - 개발자가 코드를 한 줄 한 줄 직접 타이핑 - Stack Overflow와 문서 검색에 의존 - 반복적인 코딩 작업에 많은 시간 소요</a:t>
            </a:r>
          </a:p>
          <a:p>
            <a:pPr lvl="0" indent="0" marL="0">
              <a:buNone/>
            </a:pPr>
            <a:r>
              <a:rPr b="1"/>
              <a:t>2022년 ChatGPT 등장</a:t>
            </a:r>
            <a:r>
              <a:rPr/>
              <a:t> - 자연어로 질문하고 코드 조각을 얻는 방식 시작 - 개발 보조 도구로서 LLM 활용 증가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개발 방식의 변화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2023년 IDE 통합</a:t>
            </a:r>
            <a:r>
              <a:rPr/>
              <a:t> - GitHub Copilot, Cursor 등 IDE 내 실시간 코드 제안 - 개발 흐름을 끊지 않는 인라인 자동완성 - 프로젝트 컨텍스트를 일부 이해하기 시작</a:t>
            </a:r>
          </a:p>
          <a:p>
            <a:pPr lvl="0" indent="0" marL="0">
              <a:buNone/>
            </a:pPr>
            <a:r>
              <a:rPr b="1"/>
              <a:t>2024년 CLI 기반 코딩 시대</a:t>
            </a:r>
            <a:r>
              <a:rPr/>
              <a:t> - 터미널에서 실행되는 AI 도구 등장 (Claude Code, Gemini CLI) - AI가 전체 프로젝트를 이해하고 파일을 직접 수정 - 에이전트처럼 자율적으로 멀티파일 작업 수행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변화의 속도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ChatGPT</a:t>
            </a:r>
            <a:r>
              <a:rPr/>
              <a:t>: 출시 후 2개월 만에 1억 사용자 돌파</a:t>
            </a:r>
          </a:p>
          <a:p>
            <a:pPr lvl="0"/>
            <a:r>
              <a:rPr b="1"/>
              <a:t>생산성 향상</a:t>
            </a:r>
            <a:r>
              <a:rPr/>
              <a:t>: GitHub Copilot 도입 기업의 개발자 생산성 55% 증가</a:t>
            </a:r>
          </a:p>
          <a:p>
            <a:pPr lvl="0"/>
            <a:r>
              <a:rPr b="1"/>
              <a:t>시장 성장</a:t>
            </a:r>
            <a:r>
              <a:rPr/>
              <a:t>: AI 코딩 도구 시장, 2024년 기준 연 100% 이상 성장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기술적 배경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LLM 성능 향상</a:t>
            </a:r>
            <a:r>
              <a:rPr/>
              <a:t> - GPT-4, Claude 3.5 Sonnet 등 강력한 모델 등장 - 코드 이해 및 생성 능력 비약적 발전</a:t>
            </a:r>
          </a:p>
          <a:p>
            <a:pPr lvl="0" indent="0" marL="0">
              <a:buNone/>
            </a:pPr>
            <a:r>
              <a:rPr b="1"/>
              <a:t>컨텍스트 윈도우 확대</a:t>
            </a:r>
            <a:r>
              <a:rPr/>
              <a:t> - 초기 4K 토큰 → 현재 200K 토큰 이상 - 전체 코드베이스를 한 번에 이해 가능</a:t>
            </a:r>
          </a:p>
          <a:p>
            <a:pPr lvl="0" indent="0" marL="0">
              <a:buNone/>
            </a:pPr>
            <a:r>
              <a:rPr b="1"/>
              <a:t>개발 도구 통합</a:t>
            </a:r>
            <a:r>
              <a:rPr/>
              <a:t> - IDE, CLI, 에디터와의 원활한 연동 - 파일 시스템 직접 접근 및 수정 가능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패러다임 전환: Code-First → Intent-First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전통적 개발 방식</a:t>
            </a:r>
          </a:p>
          <a:p>
            <a:pPr lvl="0" indent="0">
              <a:buNone/>
            </a:pPr>
            <a:r>
              <a:rPr>
                <a:latin typeface="Courier"/>
              </a:rPr>
              <a:t>개발자 아이디어 → 코드 작성 → 실행 → 디버깅 → 수정 → 반복</a:t>
            </a:r>
          </a:p>
          <a:p>
            <a:pPr lvl="0"/>
            <a:r>
              <a:rPr/>
              <a:t>모든 코드를 개발자가 직접 작성</a:t>
            </a:r>
          </a:p>
          <a:p>
            <a:pPr lvl="0"/>
            <a:r>
              <a:rPr/>
              <a:t>문법과 API 세부사항 암기 필요</a:t>
            </a:r>
          </a:p>
          <a:p>
            <a:pPr lvl="0"/>
            <a:r>
              <a:rPr/>
              <a:t>반복적인 보일러플레이트 코드 작성</a:t>
            </a:r>
          </a:p>
          <a:p>
            <a:pPr lvl="0" indent="0" marL="0">
              <a:buNone/>
            </a:pPr>
            <a:r>
              <a:rPr b="1"/>
              <a:t>AI 시대 개발 방식</a:t>
            </a:r>
          </a:p>
          <a:p>
            <a:pPr lvl="0" indent="0">
              <a:buNone/>
            </a:pPr>
            <a:r>
              <a:rPr>
                <a:latin typeface="Courier"/>
              </a:rPr>
              <a:t>개발자 의도 → 자연어 설명 → AI 코드 생성 → 검토 및 수정 → 완료</a:t>
            </a:r>
          </a:p>
          <a:p>
            <a:pPr lvl="0"/>
            <a:r>
              <a:rPr/>
              <a:t>“무엇을” 만들지 설명하면 AI가 “어떻게” 구현</a:t>
            </a:r>
          </a:p>
          <a:p>
            <a:pPr lvl="0"/>
            <a:r>
              <a:rPr/>
              <a:t>고수준 설계와 비즈니스 로직에 집중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개발자 역할의 변화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전통적 개발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시대 개발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주요 역할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코드 작성자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의도 설계자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필요 역량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문법 전문가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아키텍처 설계자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작업 방식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디버깅 중심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품질 검토 중심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시간 배분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반복 작업 수행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창의적 문제 해결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핵심 인사이트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개발자는 더 이상 “코드 타이핑 기계”가 아닌 </a:t>
            </a:r>
            <a:r>
              <a:rPr sz="2000" b="1"/>
              <a:t>“시스템 설계자이자 품질 관리자”</a:t>
            </a:r>
            <a:r>
              <a:rPr sz="2000"/>
              <a:t>로 진화하고 있습니다.</a:t>
            </a:r>
          </a:p>
          <a:p>
            <a:pPr lvl="0"/>
            <a:r>
              <a:rPr b="1"/>
              <a:t>반복 작업 자동화</a:t>
            </a:r>
            <a:r>
              <a:rPr/>
              <a:t>: 보일러플레이트, CRUD, 테스트 코드 등</a:t>
            </a:r>
          </a:p>
          <a:p>
            <a:pPr lvl="0"/>
            <a:r>
              <a:rPr b="1"/>
              <a:t>창의성 증대</a:t>
            </a:r>
            <a:r>
              <a:rPr/>
              <a:t>: 비즈니스 로직과 사용자 경험 개선에 집중</a:t>
            </a:r>
          </a:p>
          <a:p>
            <a:pPr lvl="0"/>
            <a:r>
              <a:rPr b="1"/>
              <a:t>생산성 향상</a:t>
            </a:r>
            <a:r>
              <a:rPr/>
              <a:t>: 같은 시간에 더 많은 가치 창출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본 자료의 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LLM 코딩 툴의 진화 과정</a:t>
            </a:r>
            <a:r>
              <a:rPr/>
              <a:t> (2022-2024)</a:t>
            </a:r>
          </a:p>
          <a:p>
            <a:pPr lvl="0" indent="-342900" marL="342900">
              <a:buAutoNum type="arabicPeriod"/>
            </a:pPr>
            <a:r>
              <a:rPr b="1"/>
              <a:t>바이브 코딩(VibeCoding)</a:t>
            </a:r>
            <a:r>
              <a:rPr/>
              <a:t> 개념과 철학</a:t>
            </a:r>
          </a:p>
          <a:p>
            <a:pPr lvl="0" indent="-342900" marL="342900">
              <a:buAutoNum type="arabicPeriod"/>
            </a:pPr>
            <a:r>
              <a:rPr b="1"/>
              <a:t>세대 구분</a:t>
            </a:r>
            <a:r>
              <a:rPr/>
              <a:t>: IDE 기반(1세대) vs CLI 기반(2세대)</a:t>
            </a:r>
          </a:p>
          <a:p>
            <a:pPr lvl="0" indent="-342900" marL="342900">
              <a:buAutoNum type="arabicPeriod"/>
            </a:pPr>
            <a:r>
              <a:rPr b="1"/>
              <a:t>세대별 비교</a:t>
            </a:r>
            <a:r>
              <a:rPr/>
              <a:t> 및 선택 가이드</a:t>
            </a:r>
          </a:p>
          <a:p>
            <a:pPr lvl="0" indent="-342900" marL="342900">
              <a:buAutoNum type="arabicPeriod"/>
            </a:pPr>
            <a:r>
              <a:rPr b="1"/>
              <a:t>실전 사례</a:t>
            </a:r>
            <a:r>
              <a:rPr/>
              <a:t>와 활용법</a:t>
            </a:r>
          </a:p>
          <a:p>
            <a:pPr lvl="0" indent="-342900" marL="342900">
              <a:buAutoNum type="arabicPeriod"/>
            </a:pPr>
            <a:r>
              <a:rPr b="1"/>
              <a:t>도입 로드맵</a:t>
            </a:r>
            <a:r>
              <a:rPr/>
              <a:t>과 실천 전략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 LLM 코딩 툴의 진화 과정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진화 타임라인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2022-2023        2023-2024           2024-현재
채팅 기반    →    IDE 통합      →    CLI 기반
(0세대)          (1세대)            (2세대)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진화의 핵심 동인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기술적 발전</a:t>
            </a:r>
          </a:p>
          <a:p>
            <a:pPr lvl="0" indent="0" marL="0">
              <a:buNone/>
            </a:pPr>
            <a:r>
              <a:rPr b="1"/>
              <a:t>LLM 성능 향상</a:t>
            </a:r>
            <a:r>
              <a:rPr/>
              <a:t> - GPT-3.5 → GPT-4 → Claude 3.5 Sonnet - 코드 이해 및 생성 능력 비약적 향상</a:t>
            </a:r>
          </a:p>
          <a:p>
            <a:pPr lvl="0" indent="0" marL="0">
              <a:buNone/>
            </a:pPr>
            <a:r>
              <a:rPr b="1"/>
              <a:t>컨텍스트 윈도우 확대</a:t>
            </a:r>
            <a:r>
              <a:rPr/>
              <a:t> - 4K 토큰 → 32K → 200K 토큰 - 전체 코드베이스를 한 번에 이해 가능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진화의 핵심 동인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도구 사용 능력 (Function Calling)</a:t>
            </a:r>
            <a:r>
              <a:rPr/>
              <a:t> - AI가 직접 API 호출 - 파일 시스템 조작 - 명령어 실행</a:t>
            </a:r>
          </a:p>
          <a:p>
            <a:pPr lvl="0" indent="0" marL="0">
              <a:buNone/>
            </a:pPr>
            <a:r>
              <a:rPr b="1"/>
              <a:t>사용자 니즈 변화</a:t>
            </a:r>
            <a:r>
              <a:rPr/>
              <a:t> - 더 빠른 개발 속도 요구 - 더 적은 반복 작업 원함 - 더 높은 코드 품질 기대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세대별 비교 요약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특징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0세대(채팅)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1세대(IDE)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2세대(CLI)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시기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2022-2023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2023-2024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2024-현재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환경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웹 브라우저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 통합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CLI/서버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컨텍스트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대화 내용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현재 파일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프로젝트 전체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작업 범위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코드 조각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단일 파일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멀티파일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자동화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없음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부분적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전면적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생산성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낮음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중간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높음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미래 전망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다음 진화 단계</a:t>
            </a:r>
          </a:p>
          <a:p>
            <a:pPr lvl="0"/>
            <a:r>
              <a:rPr b="1"/>
              <a:t>완전 자율 개발</a:t>
            </a:r>
            <a:r>
              <a:rPr/>
              <a:t>: 요구사항만으로 전체 애플리케이션 생성</a:t>
            </a:r>
          </a:p>
          <a:p>
            <a:pPr lvl="0"/>
            <a:r>
              <a:rPr b="1"/>
              <a:t>팀 협업 에이전트</a:t>
            </a:r>
            <a:r>
              <a:rPr/>
              <a:t>: 여러 AI 에이전트가 역할 분담하여 협업</a:t>
            </a:r>
          </a:p>
          <a:p>
            <a:pPr lvl="0"/>
            <a:r>
              <a:rPr b="1"/>
              <a:t>지속적 학습</a:t>
            </a:r>
            <a:r>
              <a:rPr/>
              <a:t>: 프로젝트별 코딩 스타일 학습 및 적응</a:t>
            </a:r>
          </a:p>
          <a:p>
            <a:pPr lvl="0"/>
            <a:r>
              <a:rPr b="1"/>
              <a:t>실시간 코드 리뷰</a:t>
            </a:r>
            <a:r>
              <a:rPr/>
              <a:t>: AI가 실시간으로 코드 품질 검증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개발자 역할의 변화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기술의 진화와 함께 개발자의 역할도 진화: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새로운 역할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코드 작성자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시스템 설계자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구현 전문가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품질 관리자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타이핑 중심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의도 전달 중심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2.1 초기: 채팅 기반 시대 (2022-2023)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0세대: 채팅 기반 시대 (2022-2023)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2022년 11월 ChatGPT 출시</a:t>
            </a:r>
            <a:r>
              <a:rPr/>
              <a:t> - 개발자들이 AI와 상호작용하는 방식의 근본적 변화</a:t>
            </a:r>
          </a:p>
          <a:p>
            <a:pPr lvl="0" indent="0" marL="0">
              <a:buNone/>
            </a:pPr>
            <a:r>
              <a:rPr b="1"/>
              <a:t>대표 툴</a:t>
            </a:r>
            <a:r>
              <a:rPr/>
              <a:t> - ChatGPT (OpenAI) - Bard (Google) - Claude (Anthropic)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0세대: 작동 방식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워크플로우</a:t>
            </a:r>
          </a:p>
          <a:p>
            <a:pPr lvl="0" indent="0">
              <a:buNone/>
            </a:pPr>
            <a:r>
              <a:rPr>
                <a:latin typeface="Courier"/>
              </a:rPr>
              <a:t>1. 개발자 → 자연어로 질문
2. LLM → 코드 스니펫 생성
3. 개발자 → 복사하여 IDE에 붙여넣기
4. 수정 필요 → 다시 채팅으로 질문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0세대: 특징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장점</a:t>
            </a:r>
            <a:r>
              <a:rPr/>
              <a:t> - 순수 대화형 인터페이스 - 웹 브라우저 기반으로 접근 용이</a:t>
            </a:r>
          </a:p>
          <a:p>
            <a:pPr lvl="0" indent="0" marL="0">
              <a:buNone/>
            </a:pPr>
            <a:r>
              <a:rPr b="1"/>
              <a:t>한계</a:t>
            </a:r>
            <a:r>
              <a:rPr/>
              <a:t> - 프로젝트 컨텍스트 단절 - 복사-붙여넣기 반복 작업 - 파일 간 의존성 파악 불가 - 멀티파일 작업 불가능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0세대: 의미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AI가 코드를 작성할 수 있다는 개념을 대중화시킨 </a:t>
            </a:r>
            <a:r>
              <a:rPr sz="2000" b="1"/>
              <a:t>혁명적 시작점</a:t>
            </a:r>
          </a:p>
          <a:p>
            <a:pPr lvl="0"/>
            <a:r>
              <a:rPr/>
              <a:t>코드 조각 중심의 도움</a:t>
            </a:r>
          </a:p>
          <a:p>
            <a:pPr lvl="0"/>
            <a:r>
              <a:rPr/>
              <a:t>학습 도구로서의 가치</a:t>
            </a:r>
          </a:p>
          <a:p>
            <a:pPr lvl="0"/>
            <a:r>
              <a:rPr/>
              <a:t>다음 세대를 위한 토대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2.2 전환점: IDE 통합의 시작 (2023-2024)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IDE 통합의 시작 (2023-2024)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개발 환경과의 융합</a:t>
            </a:r>
            <a:r>
              <a:rPr/>
              <a:t> - IDE에 AI를 직접 통합하는 시도</a:t>
            </a:r>
          </a:p>
          <a:p>
            <a:pPr lvl="0" indent="0" marL="0">
              <a:buNone/>
            </a:pPr>
            <a:r>
              <a:rPr b="1"/>
              <a:t>대표 툴</a:t>
            </a:r>
          </a:p>
          <a:p>
            <a:pPr lvl="0" indent="0" marL="0">
              <a:buNone/>
            </a:pPr>
            <a:r>
              <a:rPr b="1"/>
              <a:t>GitHub Copilot</a:t>
            </a:r>
            <a:r>
              <a:rPr/>
              <a:t> (2023년 초) - Microsoft와 OpenAI 협력 - VSCode, JetBrains IDE 지원 - 인라인 코드 자동완성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대표 툴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Cursor</a:t>
            </a:r>
            <a:r>
              <a:rPr/>
              <a:t> (2023년 중반) - VSCode 포크 기반 AI 네이티브 IDE - GPT-4 기반 코드 생성 - 프로젝트 전체 컨텍스트 이해</a:t>
            </a:r>
          </a:p>
          <a:p>
            <a:pPr lvl="0" indent="0" marL="0">
              <a:buNone/>
            </a:pPr>
            <a:r>
              <a:rPr b="1"/>
              <a:t>Cline</a:t>
            </a:r>
            <a:r>
              <a:rPr/>
              <a:t> (2023년 후반) - VSCode 확장 형태 - 다양한 LLM 모델 선택 가능 - 채팅 기반 코드 수정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핵심 특징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IDE 네이티브 통합</a:t>
            </a:r>
            <a:r>
              <a:rPr/>
              <a:t> - 코드 에디터 내에서 직접 AI 활용 - 실시간 코드 제안 및 자동완성 - 파일 탐색기와 연동</a:t>
            </a:r>
          </a:p>
          <a:p>
            <a:pPr lvl="0" indent="0" marL="0">
              <a:buNone/>
            </a:pPr>
            <a:r>
              <a:rPr b="1"/>
              <a:t>프로젝트 컨텍스트 인식</a:t>
            </a:r>
            <a:r>
              <a:rPr/>
              <a:t> - 현재 작업 중인 파일 내용 이해 - 프로젝트 구조 파악 (제한적) - 관련 파일 참조 가능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개선점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0세대 (채팅)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1세대 (IDE)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작업 환경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브라우저 ↔ 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 통합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컨텍스트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대화 내용만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프로젝트 파일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워크플로우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복사-붙여넣기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직접 편집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생산성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낮음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중간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한계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여전한 제약</a:t>
            </a:r>
            <a:r>
              <a:rPr/>
              <a:t> - 단일 파일 중심 작업 (멀티파일 제한적) - 수동 개입 필요 (파일 생성/삭제) - 로컬 리소스 의존 (메모리 사용 증가)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2.3 현재: CLI 기반 시대 (2024-현재)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CLI 기반 코딩 시대 (2024-현재)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터미널에서 실행되는 AI 도구</a:t>
            </a:r>
            <a:r>
              <a:rPr/>
              <a:t> - 에이전트처럼 자율적으로 복잡한 작업 수행</a:t>
            </a:r>
          </a:p>
          <a:p>
            <a:pPr lvl="0" indent="0" marL="0">
              <a:buNone/>
            </a:pPr>
            <a:r>
              <a:rPr b="1"/>
              <a:t>대표 툴</a:t>
            </a:r>
          </a:p>
          <a:p>
            <a:pPr lvl="0" indent="0" marL="0">
              <a:buNone/>
            </a:pPr>
            <a:r>
              <a:rPr b="1"/>
              <a:t>Claude Code</a:t>
            </a:r>
            <a:r>
              <a:rPr/>
              <a:t> - Anthropic 공식 CLI 도구 - 프로젝트 전체 컨텍스트 이해 - 파일 생성, 수정, 삭제 자동화 - 명령어 실행 및 결과 확인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대표 툴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Gemini CLI</a:t>
            </a:r>
            <a:r>
              <a:rPr/>
              <a:t> - Google Gemini 기반 - 빠른 응답 속도 - 클라우드 기반 실행</a:t>
            </a:r>
          </a:p>
          <a:p>
            <a:pPr lvl="0" indent="0" marL="0">
              <a:buNone/>
            </a:pPr>
            <a:r>
              <a:rPr b="1"/>
              <a:t>Aider</a:t>
            </a:r>
            <a:r>
              <a:rPr/>
              <a:t> - Git 친화적 AI 코딩 도구 - 터미널 기반 페어 프로그래밍 - 자동 커밋 메시지 생성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핵심 특징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CLI 기반 실행 환경</a:t>
            </a:r>
            <a:r>
              <a:rPr/>
              <a:t> - 터미널에서 직접 실행되는 독립 프로그램 - IDE 없이도 완전한 개발 작업 수행 - 서버 환경에서도 동작 (SSH 접속 환경) - 로컬 리소스 거의 사용 안 함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핵심 특징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에이전트형 자율 작업</a:t>
            </a:r>
            <a:r>
              <a:rPr/>
              <a:t> - 개발자의 의도를 파악하여 다단계 작업 수행 - 필요한 파일을 스스로 찾아 수정 - 오류 발생 시 자동으로 수정 시도</a:t>
            </a:r>
          </a:p>
          <a:p>
            <a:pPr lvl="0" indent="0" marL="0">
              <a:buNone/>
            </a:pPr>
            <a:r>
              <a:rPr b="1"/>
              <a:t>멀티파일 작업</a:t>
            </a:r>
            <a:r>
              <a:rPr/>
              <a:t> - 프로젝트 전체를 대상으로 작업 - 파일 간 의존성 자동 해결 - 일관성 있는 코드 스타일 유지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도구 사용 능력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 Use (Function Calling)</a:t>
            </a:r>
            <a:r>
              <a:rPr/>
              <a:t> - 터미널 명령어 직접 실행 - 파일 시스템 직접 조작 - Git 명령어 자동 실행 - 패키지 설치 및 관리</a:t>
            </a:r>
          </a:p>
          <a:p>
            <a:pPr lvl="0" indent="0" marL="0">
              <a:buNone/>
            </a:pPr>
            <a:r>
              <a:rPr b="1"/>
              <a:t>대화형 협업</a:t>
            </a:r>
            <a:r>
              <a:rPr/>
              <a:t> - 자연어로 복잡한 요구사항 전달 - AI가 불명확한 부분 질문 - 반복적인 피드백 루프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혁신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Intent-First Programming</a:t>
            </a:r>
          </a:p>
          <a:p>
            <a:pPr lvl="0" indent="0">
              <a:buNone/>
            </a:pPr>
            <a:r>
              <a:rPr>
                <a:latin typeface="Courier"/>
              </a:rPr>
              <a:t>개발자: "무엇을(What)" 만들지만 설명
AI: "어떻게(How)" 구현할지 결정
→ 구현 세부사항은 AI에게 위임</a:t>
            </a:r>
          </a:p>
          <a:p>
            <a:pPr lvl="0" indent="0" marL="0">
              <a:buNone/>
            </a:pPr>
            <a:r>
              <a:rPr b="1"/>
              <a:t>Human-in-the-Loop Verification</a:t>
            </a:r>
          </a:p>
          <a:p>
            <a:pPr lvl="0" indent="0">
              <a:buNone/>
            </a:pPr>
            <a:r>
              <a:rPr>
                <a:latin typeface="Courier"/>
              </a:rPr>
              <a:t>AI 코드 생성 → 개발자 검토 → 승인/수정 → 다음 단계</a:t>
            </a:r>
          </a:p>
          <a:p>
            <a:pPr lvl="0" indent="0" marL="0">
              <a:buNone/>
            </a:pPr>
            <a:r>
              <a:rPr b="1"/>
              <a:t>End-to-End Automation</a:t>
            </a:r>
            <a:r>
              <a:rPr/>
              <a:t> - 요구사항 분석부터 배포까지 자동화 - 테스트 코드 자동 생성 - 문서화 자동 작성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3. 바이브 코딩(VibeCoding) 개념과 철학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코딩이란?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자연어로 의도를 전달</a:t>
            </a:r>
            <a:r>
              <a:rPr/>
              <a:t>하면 AI가 </a:t>
            </a:r>
            <a:r>
              <a:rPr b="1"/>
              <a:t>실제 개발 환경에서 직접 코드를 작성하고 수정</a:t>
            </a:r>
            <a:r>
              <a:rPr/>
              <a:t>하는 새로운 개발 방식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핵심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“느낌(Vibe)만 전달하면 AI가 알아서 코딩한다”</a:t>
            </a:r>
          </a:p>
          <a:p>
            <a:pPr lvl="0" indent="0" marL="0">
              <a:buNone/>
            </a:pPr>
            <a:r>
              <a:rPr b="1"/>
              <a:t>Vibe</a:t>
            </a:r>
            <a:r>
              <a:rPr/>
              <a:t>: 개발자의 의도, 느낌, 요구사항 </a:t>
            </a:r>
            <a:r>
              <a:rPr b="1"/>
              <a:t>Coding</a:t>
            </a:r>
            <a:r>
              <a:rPr/>
              <a:t>: AI가 실제 코드로 구현</a:t>
            </a:r>
          </a:p>
          <a:p>
            <a:pPr lvl="0" indent="0" marL="0">
              <a:buNone/>
            </a:pPr>
            <a:r>
              <a:rPr/>
              <a:t>단순 코드 생성을 넘어 </a:t>
            </a:r>
            <a:r>
              <a:rPr b="1"/>
              <a:t>개발 환경 전체와 통합</a:t>
            </a:r>
            <a:r>
              <a:rPr/>
              <a:t>되어 파일을 직접 수정하고, 테스트를 실행하며, 오류를 수정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코딩의 핵심 원칙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Intent-First Programming (의도 우선 프로그래밍)</a:t>
            </a:r>
          </a:p>
          <a:p>
            <a:pPr lvl="0" indent="0">
              <a:buNone/>
            </a:pPr>
            <a:r>
              <a:rPr>
                <a:latin typeface="Courier"/>
              </a:rPr>
              <a:t>전통적 개발: "어떻게(How)" 구현할지 고민
바이브 코딩: "무엇을(What)" 만들지만 설명</a:t>
            </a:r>
          </a:p>
          <a:p>
            <a:pPr lvl="0" indent="0" marL="0">
              <a:buNone/>
            </a:pPr>
            <a:r>
              <a:rPr b="1"/>
              <a:t>예시</a:t>
            </a:r>
          </a:p>
          <a:p>
            <a:pPr lvl="0" indent="0">
              <a:buNone/>
            </a:pPr>
            <a:r>
              <a:rPr>
                <a:latin typeface="Courier"/>
              </a:rPr>
              <a:t>❌ "useState를 사용해서 counter 변수를 만들고..."
✅ "카운터 기능이 있는 컴포넌트 만들어줘"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코딩의 핵심 원칙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Human-in-the-Loop Verification (인간 검증 루프)</a:t>
            </a:r>
          </a:p>
          <a:p>
            <a:pPr lvl="0" indent="0">
              <a:buNone/>
            </a:pPr>
            <a:r>
              <a:rPr>
                <a:latin typeface="Courier"/>
              </a:rPr>
              <a:t>AI 코드 생성 → 개발자 검토 → 승인/수정 → 다음 단계</a:t>
            </a:r>
          </a:p>
          <a:p>
            <a:pPr lvl="0"/>
            <a:r>
              <a:rPr/>
              <a:t>AI가 빠르게 구현</a:t>
            </a:r>
          </a:p>
          <a:p>
            <a:pPr lvl="0"/>
            <a:r>
              <a:rPr/>
              <a:t>개발자가 품질 검증</a:t>
            </a:r>
          </a:p>
          <a:p>
            <a:pPr lvl="0"/>
            <a:r>
              <a:rPr/>
              <a:t>안전하고 신뢰할 수 있는 결과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코딩의 핵심 원칙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Context-Aware Development (컨텍스트 인식 개발)</a:t>
            </a:r>
          </a:p>
          <a:p>
            <a:pPr lvl="0" indent="0" marL="0">
              <a:buNone/>
            </a:pPr>
            <a:r>
              <a:rPr/>
              <a:t>AI가 프로젝트 전체를 이해하고 작업: - 기존 코드 스타일 학습 - 파일 간 의존성 파악 - 프로젝트 규칙 준수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철학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“개발자는 창조자, AI는 실행자”</a:t>
            </a:r>
          </a:p>
          <a:p>
            <a:pPr lvl="0" indent="0" marL="0">
              <a:buNone/>
            </a:pPr>
            <a:r>
              <a:rPr b="1"/>
              <a:t>개발자의 역할</a:t>
            </a:r>
            <a:r>
              <a:rPr/>
              <a:t> - 문제 정의 - 요구사항 명세 - 아키텍처 설계 - 품질 검증</a:t>
            </a:r>
          </a:p>
          <a:p>
            <a:pPr lvl="0" indent="0" marL="0">
              <a:buNone/>
            </a:pPr>
            <a:r>
              <a:rPr b="1"/>
              <a:t>AI의 역할</a:t>
            </a:r>
            <a:r>
              <a:rPr/>
              <a:t> - 반복 작업 자동화 - 보일러플레이트 코드 생성 - 테스트 코드 작성 - 문서화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 워크플로우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1. 개발자: 의도 전달 (자연어)
   "사용자 인증 기능 추가해줘"
2. AI: 요구사항 파악 및 질문
   "JWT 토큰 방식으로 하시겠어요?"
3. 개발자: 세부 사항 확인
   "응, JWT로 하고 localStorage에 저장해"
4. AI: 코드 생성 및 파일 수정
   - auth.service.ts 생성
   - API 엔드포인트 추가
   - 컴포넌트 수정
5. 개발자: 검토 및 승인
   "좋아, 이제 로그인 페이지도 만들어줘"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왜 “바이브”인가?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직관성</a:t>
            </a:r>
            <a:r>
              <a:rPr/>
              <a:t> - 정확한 문법이 아닌 </a:t>
            </a:r>
            <a:r>
              <a:rPr b="1"/>
              <a:t>느낌</a:t>
            </a:r>
            <a:r>
              <a:rPr/>
              <a:t>만 전달 - “이런 느낌으로 만들어줘” 같은 추상적 요청도 가능</a:t>
            </a:r>
          </a:p>
          <a:p>
            <a:pPr lvl="0" indent="0" marL="0">
              <a:buNone/>
            </a:pPr>
            <a:r>
              <a:rPr b="1"/>
              <a:t>자연스러움</a:t>
            </a:r>
            <a:r>
              <a:rPr/>
              <a:t> - 마치 동료와 대화하듯 편안하게 요청 - 딱딱한 명령어가 아닌 자연어 사용</a:t>
            </a:r>
          </a:p>
          <a:p>
            <a:pPr lvl="0" indent="0" marL="0">
              <a:buNone/>
            </a:pPr>
            <a:r>
              <a:rPr b="1"/>
              <a:t>유연성</a:t>
            </a:r>
            <a:r>
              <a:rPr/>
              <a:t> - 완벽한 명세가 아니어도 작동 - AI가 불명확한 부분은 질문하며 보완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코딩의 핵심 가치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생산성 향상</a:t>
            </a:r>
            <a:r>
              <a:rPr/>
              <a:t> - 반복 작업 제거 - 빠른 프로토타이핑 - 신속한 이터레이션</a:t>
            </a:r>
          </a:p>
          <a:p>
            <a:pPr lvl="0" indent="0" marL="0">
              <a:buNone/>
            </a:pPr>
            <a:r>
              <a:rPr b="1"/>
              <a:t>창의성 증대</a:t>
            </a:r>
            <a:r>
              <a:rPr/>
              <a:t> - 구현 세부사항에서 해방 - 비즈니스 로직에 집중 - 더 많은 실험 가능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코딩의 핵심 가치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진입 장벽 낮춤</a:t>
            </a:r>
            <a:r>
              <a:rPr/>
              <a:t> - 초보 개발자도 복잡한 기능 구현 가능 - 새로운 기술 스택 빠르게 학습 - 모범 사례 자동 적용</a:t>
            </a:r>
          </a:p>
          <a:p>
            <a:pPr lvl="0" indent="0" marL="0">
              <a:buNone/>
            </a:pPr>
            <a:r>
              <a:rPr b="1"/>
              <a:t>품질 향상</a:t>
            </a:r>
            <a:r>
              <a:rPr/>
              <a:t> - 일관된 코드 스타일 - 자동 테스트 생성 - 보안 모범 사례 적용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 vs 전통 코딩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개발 프로세스 비교</a:t>
            </a:r>
          </a:p>
          <a:p>
            <a:pPr lvl="0" indent="0" marL="0">
              <a:buNone/>
            </a:pPr>
            <a:r>
              <a:rPr b="1"/>
              <a:t>전통 코딩</a:t>
            </a:r>
          </a:p>
          <a:p>
            <a:pPr lvl="0" indent="0">
              <a:buNone/>
            </a:pPr>
            <a:r>
              <a:rPr>
                <a:latin typeface="Courier"/>
              </a:rPr>
              <a:t>요구사항 분석 (1시간)
기술 스택 조사 (2시간)
아키텍처 설계 (3시간)
코드 작성 (10시간)
테스트 작성 (4시간)
디버깅 (5시간)
문서화 (2시간)
───────────────
총 27시간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 vs 전통 코딩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바이브 코딩</a:t>
            </a:r>
          </a:p>
          <a:p>
            <a:pPr lvl="0" indent="0">
              <a:buNone/>
            </a:pPr>
            <a:r>
              <a:rPr>
                <a:latin typeface="Courier"/>
              </a:rPr>
              <a:t>요구사항 분석 (1시간)
AI와 대화하며 구현 (3시간)
코드 검토 및 수정 (2시간)
테스트 검토 (1시간)
문서 검토 (30분)
───────────────
총 7.5시간</a:t>
            </a:r>
          </a:p>
          <a:p>
            <a:pPr lvl="0" indent="0" marL="0">
              <a:buNone/>
            </a:pPr>
            <a:r>
              <a:rPr b="1"/>
              <a:t>시간 절감</a:t>
            </a:r>
            <a:r>
              <a:rPr/>
              <a:t>: 약 </a:t>
            </a:r>
            <a:r>
              <a:rPr b="1"/>
              <a:t>70%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주의사항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AI가 못하는 것</a:t>
            </a:r>
            <a:r>
              <a:rPr/>
              <a:t> - 비즈니스 요구사항 파악 - 최적의 아키텍처 선택 - 보안 취약점 완벽한 식별 - 복잡한 알고리즘 최적화</a:t>
            </a:r>
          </a:p>
          <a:p>
            <a:pPr lvl="0" indent="0" marL="0">
              <a:buNone/>
            </a:pPr>
            <a:r>
              <a:rPr b="1"/>
              <a:t>개발자가 해야 할 것</a:t>
            </a:r>
            <a:r>
              <a:rPr/>
              <a:t> - 요구사항 명확히 정의 - AI 생성 코드 검토 - 아키텍처 의사결정 - 최종 품질 책임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코딩의 성공 조건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명확한 의도 전달</a:t>
            </a:r>
          </a:p>
          <a:p>
            <a:pPr lvl="0" indent="0" marL="0">
              <a:buNone/>
            </a:pPr>
            <a:r>
              <a:rPr/>
              <a:t>❌ 나쁜 예: “뭔가 좋은 거 만들어줘”</a:t>
            </a:r>
          </a:p>
          <a:p>
            <a:pPr lvl="0" indent="0" marL="0">
              <a:buNone/>
            </a:pPr>
            <a:r>
              <a:rPr/>
              <a:t>✅ 좋은 예:</a:t>
            </a:r>
          </a:p>
          <a:p>
            <a:pPr lvl="0" indent="0">
              <a:buNone/>
            </a:pPr>
            <a:r>
              <a:rPr>
                <a:latin typeface="Courier"/>
              </a:rPr>
              <a:t>"사용자가 상품을 장바구니에 담고,
결제할 수 있는 기능을 만들어줘.
결제는 토스페이먼츠 API를 사용하고,
주문 내역은 데이터베이스에 저장해줘."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코딩의 성공 조건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적절한 검증</a:t>
            </a:r>
            <a:r>
              <a:rPr/>
              <a:t> - 생성된 코드를 </a:t>
            </a:r>
            <a:r>
              <a:rPr b="1"/>
              <a:t>반드시 읽고 이해</a:t>
            </a:r>
            <a:r>
              <a:rPr/>
              <a:t> - 테스트 실행으로 </a:t>
            </a:r>
            <a:r>
              <a:rPr b="1"/>
              <a:t>동작 확인</a:t>
            </a:r>
            <a:r>
              <a:rPr/>
              <a:t> - 보안 취약점 </a:t>
            </a:r>
            <a:r>
              <a:rPr b="1"/>
              <a:t>수동 검토</a:t>
            </a:r>
          </a:p>
          <a:p>
            <a:pPr lvl="0" indent="0" marL="0">
              <a:buNone/>
            </a:pPr>
            <a:r>
              <a:rPr b="1"/>
              <a:t>점진적 개발</a:t>
            </a:r>
          </a:p>
          <a:p>
            <a:pPr lvl="0" indent="0">
              <a:buNone/>
            </a:pPr>
            <a:r>
              <a:rPr>
                <a:latin typeface="Courier"/>
              </a:rPr>
              <a:t>큰 기능을 한 번에 요청 (X)
작은 단위로 나누어 요청 (O)
각 단계마다 검증
다음 단계 진행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코딩의 성공 조건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Git 활용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자주 커밋하여 롤백 가능성 확보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.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"AI: 사용자 인증 기능 추가"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코딩이 가져온 변화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개발 문화의 변화</a:t>
            </a:r>
          </a:p>
          <a:p>
            <a:pPr lvl="0" indent="0" marL="0">
              <a:buNone/>
            </a:pPr>
            <a:r>
              <a:rPr b="1"/>
              <a:t>Before</a:t>
            </a:r>
            <a:r>
              <a:rPr/>
              <a:t> - 코드 라인 수가 생산성 지표 - 타이핑 속도가 중요 - “어떻게” 구현할지 고민</a:t>
            </a:r>
          </a:p>
          <a:p>
            <a:pPr lvl="0" indent="0" marL="0">
              <a:buNone/>
            </a:pPr>
            <a:r>
              <a:rPr b="1"/>
              <a:t>After</a:t>
            </a:r>
            <a:r>
              <a:rPr/>
              <a:t> - 구현한 기능이 생산성 지표 - 문제 정의 능력이 중요 - “무엇을” 만들지 고민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코딩이 가져온 변화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학습 방식의 변화</a:t>
            </a:r>
          </a:p>
          <a:p>
            <a:pPr lvl="0" indent="0" marL="0">
              <a:buNone/>
            </a:pPr>
            <a:r>
              <a:rPr b="1"/>
              <a:t>Before</a:t>
            </a:r>
            <a:r>
              <a:rPr/>
              <a:t> - 문서 읽기 → 예제 따라하기 → 숙달 - 수개월의 학습 곡선</a:t>
            </a:r>
          </a:p>
          <a:p>
            <a:pPr lvl="0" indent="0" marL="0">
              <a:buNone/>
            </a:pPr>
            <a:r>
              <a:rPr b="1"/>
              <a:t>After</a:t>
            </a:r>
            <a:r>
              <a:rPr/>
              <a:t> - AI에게 질문 → 즉시 구현 → 코드 이해 - 수일의 학습 곡선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코딩이 가져온 변화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팀 협업의 변화</a:t>
            </a:r>
          </a:p>
          <a:p>
            <a:pPr lvl="0" indent="0" marL="0">
              <a:buNone/>
            </a:pPr>
            <a:r>
              <a:rPr b="1"/>
              <a:t>Before</a:t>
            </a:r>
            <a:r>
              <a:rPr/>
              <a:t> - 시니어 개발자의 코드 리뷰 대기 - 구현 방법에 대한 긴 논의</a:t>
            </a:r>
          </a:p>
          <a:p>
            <a:pPr lvl="0" indent="0" marL="0">
              <a:buNone/>
            </a:pPr>
            <a:r>
              <a:rPr b="1"/>
              <a:t>After</a:t>
            </a:r>
            <a:r>
              <a:rPr/>
              <a:t> - AI가 1차 구현 → 시니어가 설계 검토 - 비즈니스 로직에 집중한 논의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3.1 채팅 기반의 한계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채팅 기반의 한계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전통적인 ChatGPT 방식의 워크플로우</a:t>
            </a:r>
          </a:p>
          <a:p>
            <a:pPr lvl="0" indent="0">
              <a:buNone/>
            </a:pPr>
            <a:r>
              <a:rPr>
                <a:latin typeface="Courier"/>
              </a:rPr>
              <a:t>1. ChatGPT에 질문
   ↓
2. 코드 복사
   ↓
3. IDE에 붙여넣기
   ↓
4. 오류 발생
   ↓
5. 다시 ChatGPT에 질문
   ↓
6. 반복...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채팅 기반의 주요 한계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컨텍스트 단절</a:t>
            </a:r>
            <a:r>
              <a:rPr/>
              <a:t> - 프로젝트 구조를 AI가 모름 - 파일 간 의존성 무시 - 기존 코드 스타일 불일치</a:t>
            </a:r>
          </a:p>
          <a:p>
            <a:pPr lvl="0" indent="0" marL="0">
              <a:buNone/>
            </a:pPr>
            <a:r>
              <a:rPr b="1"/>
              <a:t>복사-붙여넣기 지옥</a:t>
            </a:r>
            <a:r>
              <a:rPr/>
              <a:t> - 코드 복사 → IDE 전환 → 붙여넣기 → 들여쓰기 수정 - import 문 추가 → 오류 확인 → 다시 ChatGPT로…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구체적 사례: React 컴포넌트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ChatGPT 방식</a:t>
            </a:r>
          </a:p>
          <a:p>
            <a:pPr lvl="0" indent="0">
              <a:buNone/>
            </a:pPr>
            <a:r>
              <a:rPr>
                <a:latin typeface="Courier"/>
              </a:rPr>
              <a:t>1. "로그인 폼 컴포넌트 만들어줘"
2. 코드 복사
3. LoginForm.tsx 파일 생성
4. 붙여넣기
5. 오류: useState가 import 안됨
6. import 추가
7. 오류: 기존 스타일 컴포넌트와 충돌
8. 다시 ChatGPT: "styled-components 사용하도록 수정해줘"
9. 반복...</a:t>
            </a:r>
          </a:p>
          <a:p>
            <a:pPr lvl="0" indent="0" marL="0">
              <a:buNone/>
            </a:pPr>
            <a:r>
              <a:rPr b="1"/>
              <a:t>소요 시간</a:t>
            </a:r>
            <a:r>
              <a:rPr/>
              <a:t>: 약 15-20분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생산성 차이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작업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ChatGPT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바이브 코딩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차이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컴포넌트 생성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버그 수정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리팩토링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3.7배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테스트 작성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3.5배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3.2 바이브 코딩의 시작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구체적 사례: React 컴포넌트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바이브 코딩 방식</a:t>
            </a:r>
          </a:p>
          <a:p>
            <a:pPr lvl="0" indent="0">
              <a:buNone/>
            </a:pPr>
            <a:r>
              <a:rPr>
                <a:latin typeface="Courier"/>
              </a:rPr>
              <a:t>1. "로그인 폼 컴포넌트 만들어줘. 기존 스타일 따라서."
2. AI: LoginForm.tsx 파일 생성
3. AI: 필요한 import 자동 추가
4. AI: 프로젝트의 styled-components 패턴 적용
5. 완료</a:t>
            </a:r>
          </a:p>
          <a:p>
            <a:pPr lvl="0" indent="0" marL="0">
              <a:buNone/>
            </a:pPr>
            <a:r>
              <a:rPr b="1"/>
              <a:t>소요 시간</a:t>
            </a:r>
            <a:r>
              <a:rPr/>
              <a:t>: 약 2-3분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바이브 코딩 세대 구분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세대 구분의 기준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 도구는 </a:t>
            </a:r>
            <a:r>
              <a:rPr b="1"/>
              <a:t>실행 환경</a:t>
            </a:r>
            <a:r>
              <a:rPr/>
              <a:t>과 </a:t>
            </a:r>
            <a:r>
              <a:rPr b="1"/>
              <a:t>작업 방식</a:t>
            </a:r>
            <a:r>
              <a:rPr/>
              <a:t>에 따라 크게 두 세대로 구분</a:t>
            </a:r>
          </a:p>
          <a:p>
            <a:pPr lvl="0" indent="0">
              <a:buNone/>
            </a:pPr>
            <a:r>
              <a:rPr>
                <a:latin typeface="Courier"/>
              </a:rPr>
              <a:t>1세대: IDE 기반          2세대: CLI 기반
(GUI 중심)               (터미널 중심)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세대별 핵심 차이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1세대 (IDE)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2세대 (CLI)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실행 환경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 내부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터미널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인터페이스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GUI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메모리 사용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높음 (8GB+)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낮음 (&lt;1GB)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병렬 작업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제한적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무제한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실행 위치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로컬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서버/클라우드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자동화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제한적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완전 자동화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세대별 핵심 차이 (계속)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1세대 (IDE)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2세대 (CLI)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DevOps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부분 지원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완전 지원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학습 난이도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쉬움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중간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진입 장벽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낮음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중간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하이브리드 활용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프론트엔드 개발</a:t>
            </a:r>
            <a:r>
              <a:rPr/>
              <a:t> - 1세대 (Cursor): UI 컴포넌트 작성 및 스타일링 - 2세대 (Claude Code): 빌드 설정 및 배포 자동화</a:t>
            </a:r>
          </a:p>
          <a:p>
            <a:pPr lvl="0" indent="0" marL="0">
              <a:buNone/>
            </a:pPr>
            <a:r>
              <a:rPr b="1"/>
              <a:t>풀스택 개발</a:t>
            </a:r>
            <a:r>
              <a:rPr/>
              <a:t> - 1세대 (Cline): 프론트엔드와 API 개발 - 2세대 (Gemini CLI): 인프라 구성 및 CI/CD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하이브리드 활용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DevOps/인프라</a:t>
            </a:r>
            <a:r>
              <a:rPr/>
              <a:t> - 2세대 주력: Terraform, Ansible 코드 생성 - 1세대 보조: 스크립트 디버깅 시 시각적 확인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팀 협업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주니어 개발자</a:t>
            </a:r>
            <a:r>
              <a:rPr/>
              <a:t> - 1세대로 시작하여 기본 익히기 - 점진적으로 2세대 도입</a:t>
            </a:r>
          </a:p>
          <a:p>
            <a:pPr lvl="0" indent="0" marL="0">
              <a:buNone/>
            </a:pPr>
            <a:r>
              <a:rPr b="1"/>
              <a:t>시니어 개발자</a:t>
            </a:r>
            <a:r>
              <a:rPr/>
              <a:t> - 2세대로 생산성 극대화 - 주니어 지도 시 1세대 활용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선택 가이드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1세대를 선택해야 할 때</a:t>
            </a:r>
            <a:r>
              <a:rPr/>
              <a:t> - 처음 바이브 코딩 시작하는 경우 - GUI 환경이 익숙한 경우 - 프론트엔드 개발 중심 - 시각적 피드백이 중요한 작업 - 로컬 환경에서만 작업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선택 가이드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2세대를 선택해야 할 때</a:t>
            </a:r>
            <a:r>
              <a:rPr/>
              <a:t> - 터미널 작업이 익숙한 경우 - 여러 프로젝트 동시 관리 - DevOps/인프라 자동화 - 원격 서버 작업 - 스크립트 자동화 필요 - 로컬 리소스 절약 필요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선택 가이드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두 가지 모두 사용</a:t>
            </a:r>
            <a:r>
              <a:rPr/>
              <a:t> - 풀스택 개발자 - 대규모 프로젝트 - 팀 협업 환경 - 다양한 워크플로우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4.1 1세대: IDE 기반 코딩</a:t>
            </a: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IDE 기반 코딩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IDE(통합 개발 환경) 내부</a:t>
            </a:r>
            <a:r>
              <a:rPr/>
              <a:t>에서 AI와 협업 - 친숙한 GUI 환경에서 시각적으로 AI와 상호작용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대표 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Cursor</a:t>
            </a:r>
            <a:r>
              <a:rPr/>
              <a:t> - VSCode 포크 기반 AI 네이티브 IDE - GPT-4 기반 코드 생성 및 편집 - Composer 모드로 멀티파일 작업</a:t>
            </a:r>
          </a:p>
          <a:p>
            <a:pPr lvl="0" indent="0" marL="0">
              <a:buNone/>
            </a:pPr>
            <a:r>
              <a:rPr b="1"/>
              <a:t>Cline (구 Claude Dev)</a:t>
            </a:r>
            <a:r>
              <a:rPr/>
              <a:t> - VSCode 확장 프로그램 - 다양한 LLM 모델 선택 가능 - 채팅 인터페이스 기반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대표 툴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Windsurf</a:t>
            </a:r>
            <a:r>
              <a:rPr/>
              <a:t> - Codeium 개발 - Cascade 모드로 자율 작업 - 컨텍스트 인식 코드 생성</a:t>
            </a:r>
          </a:p>
          <a:p>
            <a:pPr lvl="0" indent="0" marL="0">
              <a:buNone/>
            </a:pPr>
            <a:r>
              <a:rPr b="1"/>
              <a:t>Continue</a:t>
            </a:r>
            <a:r>
              <a:rPr/>
              <a:t> - VSCode/JetBrains 확장 - 로컬 모델 연동 가능 - 실시간 코드 편집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장점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직관적인 GUI</a:t>
            </a:r>
            <a:r>
              <a:rPr/>
              <a:t> - 시각적 인터페이스로 진입 장벽 낮음 - 마우스 클릭으로 쉽게 작업 - 코드 변경 사항을 diff 모드로 확인</a:t>
            </a:r>
          </a:p>
          <a:p>
            <a:pPr lvl="0" indent="0" marL="0">
              <a:buNone/>
            </a:pPr>
            <a:r>
              <a:rPr b="1"/>
              <a:t>IDE 기능 활용</a:t>
            </a:r>
            <a:r>
              <a:rPr/>
              <a:t> - 디버거, 터미널, Git 통합 - 익숙한 단축키 사용 - 파일 탐색기 활용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장점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실시간 피드백</a:t>
            </a:r>
            <a:r>
              <a:rPr/>
              <a:t> - 코드 작성 중 즉시 제안 - 인라인 자동완성 - 오류 즉시 확인</a:t>
            </a:r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단점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로컬 리소스 의존</a:t>
            </a:r>
            <a:r>
              <a:rPr/>
              <a:t> - IDE 실행으로 메모리 8GB+ 필요 - CPU 사용량 높음 - 배터리 소모 증가</a:t>
            </a:r>
          </a:p>
          <a:p>
            <a:pPr lvl="0" indent="0" marL="0">
              <a:buNone/>
            </a:pPr>
            <a:r>
              <a:rPr b="1"/>
              <a:t>단일 프로젝트 제한</a:t>
            </a:r>
            <a:r>
              <a:rPr/>
              <a:t> - 한 번에 하나의 프로젝트만 집중 - 멀티 프로젝트 작업 시 IDE 여러 개 실행 필요</a:t>
            </a: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단점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GUI 오버헤드</a:t>
            </a:r>
            <a:r>
              <a:rPr/>
              <a:t> - 그래픽 렌더링으로 인한 성능 저하 - 원격 서버 작업 시 불편</a:t>
            </a: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작동 방식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1. IDE 실행
   ↓
2. AI 확장/기능 활성화
   ↓
3. 채팅 패널에서 요청
   ↓
4. AI가 코드 생성/수정
   ↓
5. diff 모드로 확인
   ↓
6. 승인 또는 거부</a:t>
            </a:r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적합한 사용자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초보 개발자</a:t>
            </a:r>
            <a:r>
              <a:rPr/>
              <a:t>: GUI 환경이 익숙한 사용자</a:t>
            </a:r>
          </a:p>
          <a:p>
            <a:pPr lvl="0"/>
            <a:r>
              <a:rPr b="1"/>
              <a:t>프론트엔드 개발자</a:t>
            </a:r>
            <a:r>
              <a:rPr/>
              <a:t>: 시각적 피드백이 중요한 작업</a:t>
            </a:r>
          </a:p>
          <a:p>
            <a:pPr lvl="0"/>
            <a:r>
              <a:rPr b="1"/>
              <a:t>단일 프로젝트 집중</a:t>
            </a:r>
            <a:r>
              <a:rPr/>
              <a:t>: 하나의 프로젝트에 깊이 파고드는 경우</a:t>
            </a:r>
          </a:p>
          <a:p>
            <a:pPr lvl="0"/>
            <a:r>
              <a:rPr b="1"/>
              <a:t>윈도우/맥 사용자</a:t>
            </a:r>
            <a:r>
              <a:rPr/>
              <a:t>: 로컬 환경 개발 선호</a:t>
            </a:r>
          </a:p>
        </p:txBody>
      </p:sp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대표 워크플로우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Cursor Composer 예시</a:t>
            </a:r>
          </a:p>
          <a:p>
            <a:pPr lvl="0" indent="0">
              <a:buNone/>
            </a:pPr>
            <a:r>
              <a:rPr>
                <a:latin typeface="Courier"/>
              </a:rPr>
              <a:t>1. Cmd+K (macOS) / Ctrl+K (Windows) 단축키
2. "사용자 프로필 페이지 만들어줘" 입력
3. AI가 필요한 파일들을 자동으로 생성/수정
   - UserProfile.tsx
   - UserProfile.css
   - types/User.ts
4. 각 파일의 변경사항을 diff로 확인
5. Accept All 또는 개별 승인
6. 실행 및 테스트</a:t>
            </a:r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4.2 2세대: CLI 기반 코딩</a:t>
            </a:r>
          </a:p>
        </p:txBody>
      </p:sp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CLI 기반 코딩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터미널(CLI)</a:t>
            </a:r>
            <a:r>
              <a:rPr/>
              <a:t>에서 AI와 대화하며 작업 - IDE 없이도 프로젝트 전체를 자동화</a:t>
            </a:r>
          </a:p>
        </p:txBody>
      </p:sp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대표 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Claude Code</a:t>
            </a:r>
            <a:r>
              <a:rPr/>
              <a:t> - Anthropic 공식 CLI 도구 - 터미널에서 Claude와 직접 대화 - 프로젝트 전체 컨텍스트 이해 - 자동 파일 수정 및 명령 실행</a:t>
            </a:r>
          </a:p>
          <a:p>
            <a:pPr lvl="0" indent="0" marL="0">
              <a:buNone/>
            </a:pPr>
            <a:r>
              <a:rPr b="1"/>
              <a:t>Gemini CLI</a:t>
            </a:r>
            <a:r>
              <a:rPr/>
              <a:t> - Google Gemini 기반 - 빠른 응답 속도 - 클라우드 기반 실행 - DevOps 작업에 최적화</a:t>
            </a:r>
          </a:p>
        </p:txBody>
      </p:sp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대표 툴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Aider</a:t>
            </a:r>
            <a:r>
              <a:rPr/>
              <a:t> - Git 친화적 AI 코딩 도구 - 터미널 기반 페어 프로그래밍 - 자동 커밋 메시지 생성</a:t>
            </a:r>
          </a:p>
        </p:txBody>
      </p:sp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장점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서버/클라우드 기반</a:t>
            </a:r>
            <a:r>
              <a:rPr/>
              <a:t> - 로컬 리소스 거의 사용 안 함 - 노트북 배터리 절약 - 원격 서버에서 작업 가능</a:t>
            </a:r>
          </a:p>
          <a:p>
            <a:pPr lvl="0" indent="0" marL="0">
              <a:buNone/>
            </a:pPr>
            <a:r>
              <a:rPr b="1"/>
              <a:t>무제한 병렬 처리</a:t>
            </a:r>
            <a:r>
              <a:rPr/>
              <a:t> - 여러 터미널에서 동시 작업 - 멀티 프로젝트 동시 관리 - 백그라운드 실행 가능</a:t>
            </a:r>
          </a:p>
        </p:txBody>
      </p:sp>
    </p:spTree>
  </p:cSld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장점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스크립트 자동화</a:t>
            </a:r>
            <a:r>
              <a:rPr/>
              <a:t> - 쉘 스크립트와 결합 - CI/CD 파이프라인 통합 - DevOps 워크플로우 자동화</a:t>
            </a:r>
          </a:p>
          <a:p>
            <a:pPr lvl="0" indent="0" marL="0">
              <a:buNone/>
            </a:pPr>
            <a:r>
              <a:rPr b="1"/>
              <a:t>빠른 실행 속도</a:t>
            </a:r>
            <a:r>
              <a:rPr/>
              <a:t> - GUI 오버헤드 없음 - 텍스트 기반으로 빠른 응답 - 네트워크 대역폭 효율적</a:t>
            </a:r>
          </a:p>
        </p:txBody>
      </p:sp>
    </p:spTree>
  </p:cSld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단점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학습 곡선</a:t>
            </a:r>
            <a:r>
              <a:rPr/>
              <a:t> - 터미널 명령어 숙지 필요 - GUI 없이 작업해야 함 - 코드 변경 사항 시각화 제한적</a:t>
            </a:r>
          </a:p>
          <a:p>
            <a:pPr lvl="0" indent="0" marL="0">
              <a:buNone/>
            </a:pPr>
            <a:r>
              <a:rPr b="1"/>
              <a:t>시각적 피드백 부족</a:t>
            </a:r>
            <a:r>
              <a:rPr/>
              <a:t> - diff 확인이 텍스트 기반 - 그래픽 UI 프리뷰 불가</a:t>
            </a:r>
          </a:p>
        </p:txBody>
      </p:sp>
    </p:spTree>
  </p:cSld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단점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초기 설정</a:t>
            </a:r>
            <a:r>
              <a:rPr/>
              <a:t> - 환경 변수 설정 필요 - API 키 설정 필수</a:t>
            </a:r>
          </a:p>
        </p:txBody>
      </p:sp>
    </p:spTree>
  </p:cSld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작동 방식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Claude Code 예시</a:t>
            </a:r>
            <a:br/>
            <a:r>
              <a:rPr>
                <a:latin typeface="Courier"/>
              </a:rPr>
              <a:t>$ claude-code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프로젝트 분석해서 README.md 업데이트해줘</a:t>
            </a:r>
            <a:br/>
            <a:br/>
            <a:r>
              <a:rPr>
                <a:latin typeface="Courier"/>
              </a:rPr>
              <a:t>[Claude가 프로젝트 파일들을 읽고 분석]</a:t>
            </a:r>
            <a:br/>
            <a:r>
              <a:rPr>
                <a:latin typeface="Courier"/>
              </a:rPr>
              <a:t>[README.md 자동 수정]</a:t>
            </a:r>
            <a:br/>
            <a:r>
              <a:rPr>
                <a:latin typeface="Courier"/>
              </a:rPr>
              <a:t>[변경사항 표시]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테스트 코드도 작성해줘</a:t>
            </a:r>
            <a:br/>
            <a:br/>
            <a:r>
              <a:rPr>
                <a:latin typeface="Courier"/>
              </a:rPr>
              <a:t>[테스트 파일 자동 생성]</a:t>
            </a:r>
            <a:br/>
            <a:r>
              <a:rPr>
                <a:latin typeface="Courier"/>
              </a:rPr>
              <a:t>[npm test 실행하여 검증]</a:t>
            </a:r>
          </a:p>
        </p:txBody>
      </p:sp>
    </p:spTree>
  </p:cSld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적합한 사용자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시니어 개발자</a:t>
            </a:r>
            <a:r>
              <a:rPr/>
              <a:t>: 터미널에 익숙한 사용자</a:t>
            </a:r>
          </a:p>
          <a:p>
            <a:pPr lvl="0"/>
            <a:r>
              <a:rPr b="1"/>
              <a:t>백엔드/DevOps 개발자</a:t>
            </a:r>
            <a:r>
              <a:rPr/>
              <a:t>: 서버 관리 및 자동화 작업</a:t>
            </a:r>
          </a:p>
          <a:p>
            <a:pPr lvl="0"/>
            <a:r>
              <a:rPr b="1"/>
              <a:t>멀티 프로젝트 관리</a:t>
            </a:r>
            <a:r>
              <a:rPr/>
              <a:t>: 여러 프로젝트를 동시에 진행</a:t>
            </a:r>
          </a:p>
          <a:p>
            <a:pPr lvl="0"/>
            <a:r>
              <a:rPr b="1"/>
              <a:t>리눅스 사용자</a:t>
            </a:r>
            <a:r>
              <a:rPr/>
              <a:t>: CLI 환경 선호</a:t>
            </a:r>
          </a:p>
          <a:p>
            <a:pPr lvl="0"/>
            <a:r>
              <a:rPr b="1"/>
              <a:t>원격 개발</a:t>
            </a:r>
            <a:r>
              <a:rPr/>
              <a:t>: SSH로 원격 서버 작업</a:t>
            </a:r>
          </a:p>
        </p:txBody>
      </p:sp>
    </p:spTree>
  </p:cSld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대표 워크플로우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Claude Code 예시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프로젝트 디렉토리에서</a:t>
            </a:r>
            <a:br/>
            <a:r>
              <a:rPr>
                <a:latin typeface="Courier"/>
              </a:rPr>
              <a:t>$ claude-code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AWS Lambda 함수로 이미지 리사이징 서비스 만들어줘.</a:t>
            </a:r>
            <a:br/>
            <a:r>
              <a:rPr>
                <a:latin typeface="Courier"/>
              </a:rPr>
              <a:t>  S3에서 이미지 받아서 처리하고 다시 S3에 저장.</a:t>
            </a:r>
            <a:br/>
            <a:br/>
            <a:r>
              <a:rPr>
                <a:latin typeface="Courier"/>
              </a:rPr>
              <a:t>[Claude가 작업 시작]</a:t>
            </a:r>
            <a:br/>
            <a:r>
              <a:rPr>
                <a:latin typeface="Courier"/>
              </a:rPr>
              <a:t>✓ lambda_function.py 생성</a:t>
            </a:r>
            <a:br/>
            <a:r>
              <a:rPr>
                <a:latin typeface="Courier"/>
              </a:rPr>
              <a:t>✓ requirements.txt 생성</a:t>
            </a:r>
            <a:br/>
            <a:r>
              <a:rPr>
                <a:latin typeface="Courier"/>
              </a:rPr>
              <a:t>✓ 환경변수 설정 확인</a:t>
            </a:r>
            <a:br/>
            <a:r>
              <a:rPr>
                <a:latin typeface="Courier"/>
              </a:rPr>
              <a:t>✓ SAM template 생성</a:t>
            </a:r>
            <a:br/>
            <a:r>
              <a:rPr>
                <a:latin typeface="Courier"/>
              </a:rPr>
              <a:t>✓ README.md 업데이트</a:t>
            </a:r>
          </a:p>
        </p:txBody>
      </p:sp>
    </p:spTree>
  </p:cSld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대표 워크플로우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로컬에서 테스트해줘</a:t>
            </a:r>
            <a:br/>
            <a:br/>
            <a:r>
              <a:rPr>
                <a:latin typeface="Courier"/>
              </a:rPr>
              <a:t>[sam local invoke 실행]</a:t>
            </a:r>
            <a:br/>
            <a:r>
              <a:rPr>
                <a:latin typeface="Courier"/>
              </a:rPr>
              <a:t>[테스트 결과 확인]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문제없으면 배포해줘</a:t>
            </a:r>
            <a:br/>
            <a:br/>
            <a:r>
              <a:rPr>
                <a:latin typeface="Courier"/>
              </a:rPr>
              <a:t>[sam deploy 실행]</a:t>
            </a:r>
            <a:br/>
            <a:r>
              <a:rPr>
                <a:latin typeface="Courier"/>
              </a:rPr>
              <a:t>[배포 완료]</a:t>
            </a:r>
          </a:p>
        </p:txBody>
      </p:sp>
    </p:spTree>
  </p:cSld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5. 세대별 비교 및 선택 가이드</a:t>
            </a:r>
          </a:p>
        </p:txBody>
      </p:sp>
    </p:spTree>
  </p:cSld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종합 비교 테이블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900"/>
                <a:gridCol w="1498600"/>
                <a:gridCol w="1498600"/>
                <a:gridCol w="1498600"/>
                <a:gridCol w="1498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ChatGPT(0세대)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Copilot(0.5세대)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Cursor/Cline(1세대)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Claude Code/CLI(2세대)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인터페이스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 인라인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 통합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 터미널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코드 제안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복사-붙여넣기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실시간 자동완성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멀티라인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멀티파일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파일 편집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불가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단일 파일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멀티파일 (제한적)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멀티파일 (완전)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프로젝트 이해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없음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현재 파일만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프로젝트 전체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프로젝트 + 히스토리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종합 비교 테이블 (계속)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ChatGPT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Cursor/Cline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Claude Code/CLI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명령 실행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불가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불가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제한적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완전 가능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자동화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없음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코드 제안만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제한적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완전 자동화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Git 통합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없음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 통합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완전 통합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비용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무료/유료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$10/월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$20/월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$20/월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학습 곡선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낮음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낮음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중간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중간-높음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사용 시나리오별 비교: 웹 개발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시나리오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1세대 추천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2세대 추천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이유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React 컴포넌트 작성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Cursor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시각적 프리뷰 필요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 엔드포인트 개발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Claude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멀티파일 + 테스트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전체 페이지 구현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Cursor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UI 피드백 중요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백엔드 로직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△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Claude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복잡한 비즈니스 로직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DB 마이그레이션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Gemini CLI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스크립트 자동화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사용 시나리오별 비교: DevOps/인프라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시나리오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1세대 추천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2세대 추천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이유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Dockerfile 작성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△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Claude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빌드 + 테스트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Kubernetes 설정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Gemini CLI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YAML 다중 파일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CI/CD 파이프라인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Claude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스크립트 자동화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인프라 모니터링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Gemini CLI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서버 작업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Terraform 코드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△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Claude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멀티파일 관리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프로필별 추천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초보 개발자 (경력 &lt; 1년)</a:t>
            </a:r>
          </a:p>
          <a:p>
            <a:pPr lvl="0" indent="0">
              <a:buNone/>
            </a:pPr>
            <a:r>
              <a:rPr>
                <a:latin typeface="Courier"/>
              </a:rPr>
              <a:t>추천: 1세대 (Cursor)
이유:
- GUI 환경이 직관적
- 시각적 피드백으로 학습 효과
- 코드 변경사항 쉽게 확인</a:t>
            </a:r>
          </a:p>
        </p:txBody>
      </p:sp>
    </p:spTree>
  </p:cSld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프로필별 추천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주니어 개발자 (경력 1-3년)</a:t>
            </a:r>
          </a:p>
          <a:p>
            <a:pPr lvl="0" indent="0">
              <a:buNone/>
            </a:pPr>
            <a:r>
              <a:rPr>
                <a:latin typeface="Courier"/>
              </a:rPr>
              <a:t>추천: 1세대 → 1+2세대 병행
경로:
1. Cursor로 시작
2. 터미널 익숙해지면 Claude Code 추가
3. 프론트는 Cursor, 백엔드는 Claude Code</a:t>
            </a:r>
          </a:p>
        </p:txBody>
      </p:sp>
    </p:spTree>
  </p:cSld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프로필별 추천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중급 개발자 (경력 3-5년)</a:t>
            </a:r>
          </a:p>
          <a:p>
            <a:pPr lvl="0" indent="0">
              <a:buNone/>
            </a:pPr>
            <a:r>
              <a:rPr>
                <a:latin typeface="Courier"/>
              </a:rPr>
              <a:t>추천: 2세대 (Claude Code) 주력
이유:
- 생산성 극대화
- 멀티 프로젝트 관리
- 자동화 워크플로우 구축</a:t>
            </a:r>
          </a:p>
        </p:txBody>
      </p:sp>
    </p:spTree>
  </p:cSld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프로필별 추천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시니어 개발자 (경력 5년+)</a:t>
            </a:r>
          </a:p>
          <a:p>
            <a:pPr lvl="0" indent="0">
              <a:buNone/>
            </a:pPr>
            <a:r>
              <a:rPr>
                <a:latin typeface="Courier"/>
              </a:rPr>
              <a:t>추천: 2세대 + 1세대 보조
전략:
- Claude Code로 대부분 작업
- 복잡한 UI는 Cursor로 시각 확인
- 팀 전체의 워크플로우 최적화</a:t>
            </a:r>
          </a:p>
        </p:txBody>
      </p:sp>
    </p:spTree>
  </p:cSld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프로필별 추천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DevOps 엔지니어</a:t>
            </a:r>
          </a:p>
          <a:p>
            <a:pPr lvl="0" indent="0">
              <a:buNone/>
            </a:pPr>
            <a:r>
              <a:rPr>
                <a:latin typeface="Courier"/>
              </a:rPr>
              <a:t>추천: 2세대 (Gemini CLI/Claude Code)
이유:
- 인프라 자동화 필수
- 서버 환경 작업
- 스크립트 기반 작업</a:t>
            </a:r>
          </a:p>
          <a:p>
            <a:pPr lvl="0" indent="0" marL="0">
              <a:buNone/>
            </a:pPr>
            <a:r>
              <a:rPr b="1"/>
              <a:t>프론트엔드 전문가</a:t>
            </a:r>
          </a:p>
          <a:p>
            <a:pPr lvl="0" indent="0">
              <a:buNone/>
            </a:pPr>
            <a:r>
              <a:rPr>
                <a:latin typeface="Courier"/>
              </a:rPr>
              <a:t>추천: 1세대 (Cursor) 주력
이유:
- UI 프리뷰 필수
- 디자인 시스템 작업
- 브라우저 DevTools 활용</a:t>
            </a:r>
          </a:p>
        </p:txBody>
      </p:sp>
    </p:spTree>
  </p:cSld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의사결정 트리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시작
  ↓
Q1: 터미널 사용이 익숙한가?
  ├─ 예 → Q2로
  └─ 아니오 → 1세대 (Cursor) 추천
        ↓
Q2: 여러 프로젝트를 동시에 관리하는가?
  ├─ 예 → 2세대 (Claude Code) 추천
  └─ 아니오 → Q3로</a:t>
            </a:r>
          </a:p>
        </p:txBody>
      </p:sp>
    </p:spTree>
  </p:cSld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의사결정 트리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Q3: 주로 작업하는 영역은?
  ├─ 프론트엔드 → 1세대 (Cursor)
  ├─ 백엔드/풀스택 → 2세대 (Claude Code)
  └─ DevOps/인프라 → 2세대 (Gemini CLI)</a:t>
            </a:r>
          </a:p>
        </p:txBody>
      </p:sp>
    </p:spTree>
  </p:cSld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비용 vs 효과 분석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월간 비용 (2024년 기준)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도구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비용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특징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ChatGPT Plus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기본 채팅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GitHub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코드 자동완성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Cursor Pro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 통합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Claude 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 기반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Gemini Advanced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 + 다른 서비스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ROI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예시: 중급 개발자 (월 기준)</a:t>
            </a:r>
          </a:p>
          <a:p>
            <a:pPr lvl="0" indent="0">
              <a:buNone/>
            </a:pPr>
            <a:r>
              <a:rPr>
                <a:latin typeface="Courier"/>
              </a:rPr>
              <a:t>기존 작업 시간: 160시간/월
바이브 코딩 도입 후: 100시간/월 (37% 절감)
절감 시간: 60시간/월
개발자 시급 (평균): $50
절감 비용: 60시간 × $50 = $3,000/월
도구 비용: $20/월
ROI: ($3,000 - $20) / $20 × 100 = 14,900%</a:t>
            </a:r>
          </a:p>
        </p:txBody>
      </p:sp>
    </p:spTree>
  </p:cSld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전환 비용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1세대 → 2세대 전환</a:t>
            </a:r>
            <a:r>
              <a:rPr/>
              <a:t> - 학습 시간: 약 1주일 - 생산성 회복: 2-3주 - 총 전환 비용: 약 20-30시간</a:t>
            </a:r>
          </a:p>
          <a:p>
            <a:pPr lvl="0" indent="0" marL="0">
              <a:buNone/>
            </a:pPr>
            <a:r>
              <a:rPr b="1"/>
              <a:t>예상 회수 기간</a:t>
            </a:r>
            <a:r>
              <a:rPr/>
              <a:t>: 첫 달 내 회수 가능</a:t>
            </a:r>
          </a:p>
        </p:txBody>
      </p:sp>
    </p:spTree>
  </p:cSld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팀 도입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소규모 팀 (1-5명)</a:t>
            </a:r>
          </a:p>
          <a:p>
            <a:pPr lvl="0" indent="0" marL="0">
              <a:buNone/>
            </a:pPr>
            <a:r>
              <a:rPr b="1"/>
              <a:t>전략</a:t>
            </a:r>
            <a:r>
              <a:rPr/>
              <a:t>: 개인 선택 존중</a:t>
            </a:r>
          </a:p>
          <a:p>
            <a:pPr lvl="0" indent="0">
              <a:buNone/>
            </a:pPr>
            <a:r>
              <a:rPr>
                <a:latin typeface="Courier"/>
              </a:rPr>
              <a:t>1. 각자 선호하는 도구 사용
2. 월 1회 경험 공유 세션
3. 점진적으로 표준화</a:t>
            </a:r>
          </a:p>
          <a:p>
            <a:pPr lvl="0" indent="0" marL="0">
              <a:buNone/>
            </a:pPr>
            <a:r>
              <a:rPr b="1"/>
              <a:t>추천 조합</a:t>
            </a:r>
            <a:r>
              <a:rPr/>
              <a:t>: - 프론트 2명: Cursor - 백엔드 2명: Claude Code - 풀스택 1명: 둘 다</a:t>
            </a:r>
          </a:p>
        </p:txBody>
      </p:sp>
    </p:spTree>
  </p:cSld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팀 도입 전략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중형 팀 (6-20명)</a:t>
            </a:r>
          </a:p>
          <a:p>
            <a:pPr lvl="0" indent="0" marL="0">
              <a:buNone/>
            </a:pPr>
            <a:r>
              <a:rPr b="1"/>
              <a:t>전략</a:t>
            </a:r>
            <a:r>
              <a:rPr/>
              <a:t>: 역할별 표준화</a:t>
            </a:r>
          </a:p>
          <a:p>
            <a:pPr lvl="0" indent="0">
              <a:buNone/>
            </a:pPr>
            <a:r>
              <a:rPr>
                <a:latin typeface="Courier"/>
              </a:rPr>
              <a:t>1. 포지션별 도구 가이드 작성
2. 온보딩에 도구 교육 포함
3. 내부 베스트 프랙티스 문서화</a:t>
            </a:r>
          </a:p>
          <a:p>
            <a:pPr lvl="0" indent="0" marL="0">
              <a:buNone/>
            </a:pPr>
            <a:r>
              <a:rPr b="1"/>
              <a:t>추천 조합</a:t>
            </a:r>
            <a:r>
              <a:rPr/>
              <a:t>: - 주니어: Cursor (통일) - 시니어: 자유 선택 - DevOps: Claude Code (통일)</a:t>
            </a:r>
          </a:p>
        </p:txBody>
      </p:sp>
    </p:spTree>
  </p:cSld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팀 도입 전략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대형 팀 (20명+)</a:t>
            </a:r>
          </a:p>
          <a:p>
            <a:pPr lvl="0" indent="0" marL="0">
              <a:buNone/>
            </a:pPr>
            <a:r>
              <a:rPr b="1"/>
              <a:t>전략</a:t>
            </a:r>
            <a:r>
              <a:rPr/>
              <a:t>: 공식 도구 선정</a:t>
            </a:r>
          </a:p>
          <a:p>
            <a:pPr lvl="0" indent="0">
              <a:buNone/>
            </a:pPr>
            <a:r>
              <a:rPr>
                <a:latin typeface="Courier"/>
              </a:rPr>
              <a:t>1. 2-3개 도구로 표준화
2. 라이선스 대량 구매
3. 전담 교육 프로그램
4. 내부 Slack 채널 운영</a:t>
            </a:r>
          </a:p>
        </p:txBody>
      </p:sp>
    </p:spTree>
  </p:cSld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처음 시작하는 경우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Week 1-2: 기본 익히기</a:t>
            </a:r>
          </a:p>
          <a:p>
            <a:pPr lvl="0" indent="0">
              <a:buNone/>
            </a:pPr>
            <a:r>
              <a:rPr>
                <a:latin typeface="Courier"/>
              </a:rPr>
              <a:t>1. Cursor로 시작 (진입 장벽 낮음)
2. 간단한 컴포넌트 만들어보기
3. 코드 리뷰 습관 들이기</a:t>
            </a:r>
          </a:p>
          <a:p>
            <a:pPr lvl="0" indent="0" marL="0">
              <a:buNone/>
            </a:pPr>
            <a:r>
              <a:rPr b="1"/>
              <a:t>Week 3-4: 고급 기능</a:t>
            </a:r>
          </a:p>
          <a:p>
            <a:pPr lvl="0" indent="0">
              <a:buNone/>
            </a:pPr>
            <a:r>
              <a:rPr>
                <a:latin typeface="Courier"/>
              </a:rPr>
              <a:t>1. Composer 모드 활용
2. 멀티파일 작업 시도
3. 프로젝트 전체 리팩토링</a:t>
            </a:r>
          </a:p>
        </p:txBody>
      </p:sp>
    </p:spTree>
  </p:cSld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처음 시작하는 경우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Month 2: 2세대 시도</a:t>
            </a:r>
          </a:p>
          <a:p>
            <a:pPr lvl="0" indent="0">
              <a:buNone/>
            </a:pPr>
            <a:r>
              <a:rPr>
                <a:latin typeface="Courier"/>
              </a:rPr>
              <a:t>1. Claude Code 설치
2. 백엔드 작업부터 시작
3. 1세대와 병행 사용</a:t>
            </a:r>
          </a:p>
        </p:txBody>
      </p:sp>
    </p:spTree>
  </p:cSld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생산성 극대화 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1세대 사용 시</a:t>
            </a:r>
            <a:r>
              <a:rPr/>
              <a:t> - 단축키 마스터하기 - Composer 모드 적극 활용 - diff 모드로 변경사항 항상 확인</a:t>
            </a:r>
          </a:p>
          <a:p>
            <a:pPr lvl="0" indent="0" marL="0">
              <a:buNone/>
            </a:pPr>
            <a:r>
              <a:rPr b="1"/>
              <a:t>2세대 사용 시</a:t>
            </a:r>
            <a:r>
              <a:rPr/>
              <a:t> - 명확한 요구사항 전달 - 작업을 작은 단위로 분할 - Git 커밋 자주 하기</a:t>
            </a:r>
          </a:p>
        </p:txBody>
      </p:sp>
    </p:spTree>
  </p:cSld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마이그레이션 가이드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ChatGPT → Cursor</a:t>
            </a:r>
          </a:p>
          <a:p>
            <a:pPr lvl="0" indent="0" marL="0">
              <a:buNone/>
            </a:pPr>
            <a:r>
              <a:rPr b="1"/>
              <a:t>준비물</a:t>
            </a:r>
            <a:r>
              <a:rPr/>
              <a:t> - VSCode 사용 경험 - 기본적인 Git 지식</a:t>
            </a:r>
          </a:p>
          <a:p>
            <a:pPr lvl="0" indent="0" marL="0">
              <a:buNone/>
            </a:pPr>
            <a:r>
              <a:rPr b="1"/>
              <a:t>마이그레이션 단계</a:t>
            </a:r>
            <a:r>
              <a:rPr/>
              <a:t> 1. Cursor 설치 2. 기존 프로젝트 열기 3. Cmd/Ctrl + K로 시작 4. 간단한 요청부터 시작</a:t>
            </a:r>
          </a:p>
          <a:p>
            <a:pPr lvl="0" indent="0" marL="0">
              <a:buNone/>
            </a:pPr>
            <a:r>
              <a:rPr b="1"/>
              <a:t>예상 적응 기간</a:t>
            </a:r>
            <a:r>
              <a:rPr/>
              <a:t>: 1-2일</a:t>
            </a:r>
          </a:p>
        </p:txBody>
      </p:sp>
    </p:spTree>
  </p:cSld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마이그레이션 가이드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Cursor → Claude Code</a:t>
            </a:r>
          </a:p>
          <a:p>
            <a:pPr lvl="0" indent="0" marL="0">
              <a:buNone/>
            </a:pPr>
            <a:r>
              <a:rPr b="1"/>
              <a:t>준비물</a:t>
            </a:r>
            <a:r>
              <a:rPr/>
              <a:t> - 터미널 기본 명령어 - Git 중급 이상 지식 - API 키 발급</a:t>
            </a:r>
          </a:p>
          <a:p>
            <a:pPr lvl="0" indent="0" marL="0">
              <a:buNone/>
            </a:pPr>
            <a:r>
              <a:rPr b="1"/>
              <a:t>마이그레이션 단계</a:t>
            </a:r>
            <a:r>
              <a:rPr/>
              <a:t> 1. Claude Code 설치 2. 환경 변수 설정 3. 터미널에서 실행 4. 작은 프로젝트부터 시작</a:t>
            </a:r>
          </a:p>
          <a:p>
            <a:pPr lvl="0" indent="0" marL="0">
              <a:buNone/>
            </a:pPr>
            <a:r>
              <a:rPr b="1"/>
              <a:t>예상 적응 기간</a:t>
            </a:r>
            <a:r>
              <a:rPr/>
              <a:t>: 1주일</a:t>
            </a:r>
          </a:p>
        </p:txBody>
      </p:sp>
    </p:spTree>
  </p:cSld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자주 묻는 질문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Q: 두 가지를 동시에 사용해도 되나요?</a:t>
            </a:r>
          </a:p>
          <a:p>
            <a:pPr lvl="0" indent="0" marL="0">
              <a:buNone/>
            </a:pPr>
            <a:r>
              <a:rPr/>
              <a:t>A: 네, 오히려 권장합니다. 상황에 맞게 적절한 도구를 선택하세요.</a:t>
            </a:r>
          </a:p>
          <a:p>
            <a:pPr lvl="0" indent="0" marL="0">
              <a:buNone/>
            </a:pPr>
            <a:r>
              <a:rPr b="1"/>
              <a:t>Q: 비용이 부담됩니다. 무료 대안은?</a:t>
            </a:r>
          </a:p>
          <a:p>
            <a:pPr lvl="0" indent="0" marL="0">
              <a:buNone/>
            </a:pPr>
            <a:r>
              <a:rPr/>
              <a:t>A: ChatGPT 무료 버전으로 시작하거나, Claude Code의 무료 티어를 활용하세요.</a:t>
            </a:r>
          </a:p>
        </p:txBody>
      </p:sp>
    </p:spTree>
  </p:cSld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자주 묻는 질문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Q: 회사에서 도입하려면?</a:t>
            </a:r>
          </a:p>
          <a:p>
            <a:pPr lvl="0" indent="0" marL="0">
              <a:buNone/>
            </a:pPr>
            <a:r>
              <a:rPr/>
              <a:t>A: 소규모 파일럿 프로젝트로 시작하고, 성과를 측정한 후 확대하세요.</a:t>
            </a:r>
          </a:p>
          <a:p>
            <a:pPr lvl="0" indent="0" marL="0">
              <a:buNone/>
            </a:pPr>
            <a:r>
              <a:rPr b="1"/>
              <a:t>Q: 보안은 괜찮나요?</a:t>
            </a:r>
          </a:p>
          <a:p>
            <a:pPr lvl="0" indent="0" marL="0">
              <a:buNone/>
            </a:pPr>
            <a:r>
              <a:rPr/>
              <a:t>A: 민감한 정보는 절대 공유하지 말고, 기업용 라이선스를 고려하세요.</a:t>
            </a:r>
          </a:p>
        </p:txBody>
      </p:sp>
    </p:spTree>
  </p:cSld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6. 실전 사례: 세대별 활용법</a:t>
            </a:r>
          </a:p>
        </p:txBody>
      </p:sp>
    </p:spTree>
  </p:cSld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 (IDE 기반) 활용 사례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사례 1: React Todo 앱 개발 (Cursor)</a:t>
            </a:r>
          </a:p>
          <a:p>
            <a:pPr lvl="0" indent="0" marL="0">
              <a:buNone/>
            </a:pPr>
            <a:r>
              <a:rPr b="1"/>
              <a:t>시나리오</a:t>
            </a:r>
            <a:r>
              <a:rPr/>
              <a:t>: React와 TypeScript로 간단한 Todo 앱 만들기</a:t>
            </a:r>
          </a:p>
        </p:txBody>
      </p:sp>
    </p:spTree>
  </p:cSld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사례 1: React Todo 앱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작업 과정</a:t>
            </a:r>
          </a:p>
          <a:p>
            <a:pPr lvl="0" indent="0">
              <a:buNone/>
            </a:pPr>
            <a:r>
              <a:rPr>
                <a:latin typeface="Courier"/>
              </a:rPr>
              <a:t>1. Cursor에서 새 프로젝트 생성
2. Cmd+K 누르고 요청:
   "React와 TypeScript로 Todo 앱 만들어줘.
    - 할 일 추가, 삭제, 완료 표시
    - localStorage에 저장
    - Tailwind CSS로 스타일링"
3. AI가 자동 생성:
   - App.tsx, TodoItem.tsx
   - types/Todo.ts, hooks/useTodos.ts
4. diff 모드로 확인 후 승인
5. npm start로 즉시 실행</a:t>
            </a:r>
          </a:p>
        </p:txBody>
      </p:sp>
    </p:spTree>
  </p:cSld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사례 1: 성과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결과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소요 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약 5분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기존 방식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약 30-40분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생산성 향상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6-8배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장점</a:t>
            </a:r>
            <a:r>
              <a:rPr/>
              <a:t> - 실시간 UI 프리뷰 - 컴포넌트 구조 시각적 확인 - 즉시 브라우저에서 테스트</a:t>
            </a:r>
          </a:p>
        </p:txBody>
      </p:sp>
    </p:spTree>
  </p:cSld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사례 2: API 통합 (Cline)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시나리오</a:t>
            </a:r>
            <a:r>
              <a:rPr/>
              <a:t>: 기존 React 앱에 REST API 연동 추가</a:t>
            </a:r>
          </a:p>
          <a:p>
            <a:pPr lvl="0" indent="0" marL="0">
              <a:buNone/>
            </a:pPr>
            <a:r>
              <a:rPr b="1"/>
              <a:t>작업 과정</a:t>
            </a:r>
          </a:p>
          <a:p>
            <a:pPr lvl="0" indent="0">
              <a:buNone/>
            </a:pPr>
            <a:r>
              <a:rPr>
                <a:latin typeface="Courier"/>
              </a:rPr>
              <a:t>1. Cline 채팅 패널에서 요청:
   "GitHub API를 사용해서 사용자 저장소 목록 가져오기.
    - axios 사용
    - React Query로 캐싱
    - 로딩 및 에러 상태 처리"
2. AI가 자동 작업:
   - api/github.ts 생성
   - hooks/useRepositories.ts 생성
   - RepositoryList.tsx 컴포넌트 생성
   - package.json에 의존성 추가 제안</a:t>
            </a:r>
          </a:p>
        </p:txBody>
      </p:sp>
    </p:spTree>
  </p:cSld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사례 2: 성과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결과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소요 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약 7분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기존 방식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약 45-60분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생산성 향상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6-8배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핵심 포인트</a:t>
            </a:r>
            <a:r>
              <a:rPr/>
              <a:t> - API 호출 로직 자동 생성 - 에러 핸들링 자동 구현 - React Query 설정 완료</a:t>
            </a:r>
          </a:p>
        </p:txBody>
      </p:sp>
    </p:spTree>
  </p:cSld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 (CLI 기반) 활용 사례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사례 1: Express API 서버 (Claude Code)</a:t>
            </a:r>
          </a:p>
          <a:p>
            <a:pPr lvl="0" indent="0" marL="0">
              <a:buNone/>
            </a:pPr>
            <a:r>
              <a:rPr b="1"/>
              <a:t>시나리오</a:t>
            </a:r>
            <a:r>
              <a:rPr/>
              <a:t>: Node.js Express로 RESTful API 서버 개발</a:t>
            </a:r>
          </a:p>
        </p:txBody>
      </p:sp>
    </p:spTree>
  </p:cSld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사례 1: Express API 서버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작업 과정</a:t>
            </a:r>
          </a:p>
          <a:p>
            <a:pPr lvl="0" indent="0">
              <a:buNone/>
            </a:pPr>
            <a:r>
              <a:rPr>
                <a:latin typeface="Courier"/>
              </a:rPr>
              <a:t>$ claude-code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Express로 블로그 API 서버 만들어줘.</a:t>
            </a:r>
            <a:br/>
            <a:r>
              <a:rPr>
                <a:latin typeface="Courier"/>
              </a:rPr>
              <a:t>  - 게시글 CRUD</a:t>
            </a:r>
            <a:br/>
            <a:r>
              <a:rPr>
                <a:latin typeface="Courier"/>
              </a:rPr>
              <a:t>  - 사용자 인증 </a:t>
            </a:r>
            <a:r>
              <a:rPr b="1">
                <a:solidFill>
                  <a:srgbClr val="FF0000"/>
                </a:solidFill>
                <a:latin typeface="Courier"/>
              </a:rPr>
              <a:t>(</a:t>
            </a:r>
            <a:r>
              <a:rPr>
                <a:latin typeface="Courier"/>
              </a:rPr>
              <a:t>JWT</a:t>
            </a:r>
            <a:r>
              <a:rPr b="1">
                <a:solidFill>
                  <a:srgbClr val="007020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- MongoDB 연동</a:t>
            </a:r>
            <a:br/>
            <a:r>
              <a:rPr>
                <a:latin typeface="Courier"/>
              </a:rPr>
              <a:t>  - 입력 검증</a:t>
            </a:r>
            <a:br/>
            <a:r>
              <a:rPr>
                <a:latin typeface="Courier"/>
              </a:rPr>
              <a:t>  - 에러 핸들링 미들웨어</a:t>
            </a:r>
            <a:br/>
            <a:br/>
            <a:r>
              <a:rPr>
                <a:latin typeface="Courier"/>
              </a:rPr>
              <a:t>[Claude가 작업 시작]</a:t>
            </a:r>
            <a:br/>
            <a:r>
              <a:rPr>
                <a:latin typeface="Courier"/>
              </a:rPr>
              <a:t>✓ server.js, routes/posts.js, routes/auth.js</a:t>
            </a:r>
            <a:br/>
            <a:r>
              <a:rPr>
                <a:latin typeface="Courier"/>
              </a:rPr>
              <a:t>✓ middleware/auth.js, models/Post.js, models/User.js</a:t>
            </a:r>
            <a:br/>
            <a:r>
              <a:rPr>
                <a:latin typeface="Courier"/>
              </a:rPr>
              <a:t>✓ .env.example, package.json, README.md</a:t>
            </a:r>
          </a:p>
        </p:txBody>
      </p:sp>
    </p:spTree>
  </p:cSld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사례 1: Express API 서버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테스트 코드도 작성해줘</a:t>
            </a:r>
            <a:br/>
            <a:br/>
            <a:r>
              <a:rPr>
                <a:latin typeface="Courier"/>
              </a:rPr>
              <a:t>✓ __tests__/posts.test.js</a:t>
            </a:r>
            <a:br/>
            <a:r>
              <a:rPr>
                <a:latin typeface="Courier"/>
              </a:rPr>
              <a:t>✓ __tests__/auth.test.js</a:t>
            </a:r>
            <a:br/>
            <a:r>
              <a:rPr>
                <a:latin typeface="Courier"/>
              </a:rPr>
              <a:t>✓ jest.config.js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npm </a:t>
            </a:r>
            <a:r>
              <a:rPr>
                <a:solidFill>
                  <a:srgbClr val="06287E"/>
                </a:solidFill>
                <a:latin typeface="Courier"/>
              </a:rPr>
              <a:t>install</a:t>
            </a:r>
            <a:r>
              <a:rPr>
                <a:latin typeface="Courier"/>
              </a:rPr>
              <a:t> 실행하고 서버 시작해줘</a:t>
            </a:r>
            <a:br/>
            <a:br/>
            <a:r>
              <a:rPr>
                <a:latin typeface="Courier"/>
              </a:rPr>
              <a:t>[npm install 실행]</a:t>
            </a:r>
            <a:br/>
            <a:r>
              <a:rPr>
                <a:latin typeface="Courier"/>
              </a:rPr>
              <a:t>[서버 시작됨]</a:t>
            </a:r>
            <a:br/>
            <a:r>
              <a:rPr>
                <a:latin typeface="Courier"/>
              </a:rPr>
              <a:t>Server running on port 3000</a:t>
            </a:r>
          </a:p>
        </p:txBody>
      </p:sp>
    </p:spTree>
  </p:cSld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사례 1: 성과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결과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소요 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약 10분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기존 방식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약 2-3시간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생산성 향상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12-18배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장점</a:t>
            </a:r>
            <a:r>
              <a:rPr/>
              <a:t> - 멀티파일 자동 생성 - 보일러플레이트 자동 처리 - 테스트 코드까지 완성 - 즉시 실행 가능</a:t>
            </a:r>
          </a:p>
        </p:txBody>
      </p:sp>
    </p:spTree>
  </p:cSld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사례 2: AWS 인프라 구성 (Gemini CLI)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시나리오</a:t>
            </a:r>
            <a:r>
              <a:rPr/>
              <a:t>: Terraform으로 AWS EC2 + RDS 인프라 구성</a:t>
            </a:r>
          </a:p>
        </p:txBody>
      </p:sp>
    </p:spTree>
  </p:cSld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사례 2: AWS 인프라 구성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작업 과정</a:t>
            </a:r>
          </a:p>
          <a:p>
            <a:pPr lvl="0" indent="0">
              <a:buNone/>
            </a:pPr>
            <a:r>
              <a:rPr>
                <a:latin typeface="Courier"/>
              </a:rPr>
              <a:t>$ gemini-cli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AWS에 프로덕션 환경 인프라 구성해줘:</a:t>
            </a:r>
            <a:br/>
            <a:r>
              <a:rPr>
                <a:latin typeface="Courier"/>
              </a:rPr>
              <a:t>  - VPC, 서브넷, 인터넷 게이트웨이</a:t>
            </a:r>
            <a:br/>
            <a:r>
              <a:rPr>
                <a:latin typeface="Courier"/>
              </a:rPr>
              <a:t>  - EC2 인스턴스 </a:t>
            </a:r>
            <a:r>
              <a:rPr b="1">
                <a:solidFill>
                  <a:srgbClr val="FF0000"/>
                </a:solidFill>
                <a:latin typeface="Courier"/>
              </a:rPr>
              <a:t>(</a:t>
            </a:r>
            <a:r>
              <a:rPr>
                <a:latin typeface="Courier"/>
              </a:rPr>
              <a:t>t3.medium, 2개</a:t>
            </a:r>
            <a:r>
              <a:rPr b="1">
                <a:solidFill>
                  <a:srgbClr val="007020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- RDS PostgreSQL </a:t>
            </a:r>
            <a:r>
              <a:rPr b="1">
                <a:solidFill>
                  <a:srgbClr val="FF0000"/>
                </a:solidFill>
                <a:latin typeface="Courier"/>
              </a:rPr>
              <a:t>(</a:t>
            </a:r>
            <a:r>
              <a:rPr>
                <a:latin typeface="Courier"/>
              </a:rPr>
              <a:t>Multi-AZ</a:t>
            </a:r>
            <a:r>
              <a:rPr b="1">
                <a:solidFill>
                  <a:srgbClr val="007020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- 로드 밸런서, 보안 그룹 설정</a:t>
            </a:r>
            <a:br/>
            <a:r>
              <a:rPr>
                <a:latin typeface="Courier"/>
              </a:rPr>
              <a:t>  - Terraform 코드로 작성</a:t>
            </a:r>
            <a:br/>
            <a:br/>
            <a:r>
              <a:rPr>
                <a:latin typeface="Courier"/>
              </a:rPr>
              <a:t>[Gemini가 Terraform 코드 생성]</a:t>
            </a:r>
            <a:br/>
            <a:r>
              <a:rPr>
                <a:latin typeface="Courier"/>
              </a:rPr>
              <a:t>✓ main.tf, variables.tf, outputs.tf</a:t>
            </a:r>
            <a:br/>
            <a:r>
              <a:rPr>
                <a:latin typeface="Courier"/>
              </a:rPr>
              <a:t>✓ vpc.tf, ec2.tf, rds.tf, security-groups.tf</a:t>
            </a:r>
          </a:p>
        </p:txBody>
      </p:sp>
    </p:spTree>
  </p:cSld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사례 2: AWS 인프라 구성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terraform init하고 plan 보여줘</a:t>
            </a:r>
            <a:br/>
            <a:br/>
            <a:r>
              <a:rPr>
                <a:latin typeface="Courier"/>
              </a:rPr>
              <a:t>[terraform init 실행]</a:t>
            </a:r>
            <a:br/>
            <a:r>
              <a:rPr>
                <a:latin typeface="Courier"/>
              </a:rPr>
              <a:t>[terraform plan 실행 및 결과 표시]</a:t>
            </a:r>
            <a:br/>
            <a:r>
              <a:rPr>
                <a:latin typeface="Courier"/>
              </a:rPr>
              <a:t>Plan: 15 to add, 0 to change, 0 to destroy.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apply해줘</a:t>
            </a:r>
            <a:br/>
            <a:br/>
            <a:r>
              <a:rPr>
                <a:latin typeface="Courier"/>
              </a:rPr>
              <a:t>[terraform apply 실행]</a:t>
            </a:r>
            <a:br/>
            <a:r>
              <a:rPr>
                <a:latin typeface="Courier"/>
              </a:rPr>
              <a:t>Apply complete! Resources: 15 added</a:t>
            </a:r>
          </a:p>
        </p:txBody>
      </p:sp>
    </p:spTree>
  </p:cSld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사례 2: 성과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결과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소요 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약 15분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기존 방식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약 3-4시간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생산성 향상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12-16배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핵심 포인트</a:t>
            </a:r>
            <a:r>
              <a:rPr/>
              <a:t> - 복잡한 인프라 코드 자동 생성 - 베스트 프랙티스 자동 적용 - 즉시 배포 가능</a:t>
            </a:r>
          </a:p>
        </p:txBody>
      </p:sp>
    </p:spTree>
  </p:cSld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비교: 사용자 인증 기능 추가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1세대 (Cursor) 접근</a:t>
            </a:r>
          </a:p>
          <a:p>
            <a:pPr lvl="0" indent="0">
              <a:buNone/>
            </a:pPr>
            <a:r>
              <a:rPr>
                <a:latin typeface="Courier"/>
              </a:rPr>
              <a:t>1. IDE에서 프로젝트 열기
2. Cmd+K: "JWT 기반 사용자 인증 추가"
3. 시각적으로 변경사항 확인
   - Login.tsx 수정 확인
   - auth.service.ts 생성 확인
4. Accept All
5. 브라우저에서 로그인 폼 확인</a:t>
            </a:r>
          </a:p>
          <a:p>
            <a:pPr lvl="0" indent="0" marL="0">
              <a:buNone/>
            </a:pPr>
            <a:r>
              <a:rPr b="1"/>
              <a:t>적합</a:t>
            </a:r>
            <a:r>
              <a:rPr/>
              <a:t>: 프론트엔드 중심 작업, UI 피드백 필요</a:t>
            </a:r>
          </a:p>
        </p:txBody>
      </p:sp>
    </p:spTree>
  </p:cSld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비교: 사용자 인증 기능 추가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2세대 (Claude Code) 접근</a:t>
            </a:r>
          </a:p>
          <a:p>
            <a:pPr lvl="0" indent="0">
              <a:buNone/>
            </a:pPr>
            <a:r>
              <a:rPr>
                <a:latin typeface="Courier"/>
              </a:rPr>
              <a:t>$ claude-code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사용자 인증 기능 추가해줘:</a:t>
            </a:r>
            <a:br/>
            <a:r>
              <a:rPr>
                <a:latin typeface="Courier"/>
              </a:rPr>
              <a:t>  - JWT 토큰 발급</a:t>
            </a:r>
            <a:br/>
            <a:r>
              <a:rPr>
                <a:latin typeface="Courier"/>
              </a:rPr>
              <a:t>  - Refresh 토큰</a:t>
            </a:r>
            <a:br/>
            <a:r>
              <a:rPr>
                <a:latin typeface="Courier"/>
              </a:rPr>
              <a:t>  - 비밀번호 해싱 </a:t>
            </a:r>
            <a:r>
              <a:rPr b="1">
                <a:solidFill>
                  <a:srgbClr val="FF0000"/>
                </a:solidFill>
                <a:latin typeface="Courier"/>
              </a:rPr>
              <a:t>(</a:t>
            </a:r>
            <a:r>
              <a:rPr>
                <a:latin typeface="Courier"/>
              </a:rPr>
              <a:t>bcrypt</a:t>
            </a:r>
            <a:r>
              <a:rPr b="1">
                <a:solidFill>
                  <a:srgbClr val="007020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- Rate limiting</a:t>
            </a:r>
            <a:br/>
            <a:r>
              <a:rPr>
                <a:latin typeface="Courier"/>
              </a:rPr>
              <a:t>  - 로그인 시도 제한</a:t>
            </a:r>
            <a:br/>
            <a:br/>
            <a:r>
              <a:rPr>
                <a:latin typeface="Courier"/>
              </a:rPr>
              <a:t>[모든 파일 자동 수정 및 생성]</a:t>
            </a:r>
            <a:br/>
            <a:r>
              <a:rPr>
                <a:latin typeface="Courier"/>
              </a:rPr>
              <a:t>[테스트 코드 자동 생성]</a:t>
            </a:r>
            <a:br/>
            <a:r>
              <a:rPr>
                <a:latin typeface="Courier"/>
              </a:rPr>
              <a:t>[npm test 자동 실행]</a:t>
            </a:r>
          </a:p>
          <a:p>
            <a:pPr lvl="0" indent="0" marL="0">
              <a:buNone/>
            </a:pPr>
            <a:r>
              <a:rPr b="1"/>
              <a:t>적합</a:t>
            </a:r>
            <a:r>
              <a:rPr/>
              <a:t>: 백엔드 전체 로직, 테스트 자동화</a:t>
            </a:r>
          </a:p>
        </p:txBody>
      </p:sp>
    </p:spTree>
  </p:cSld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생산성 비교: 블로그 플랫폼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작업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전통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Claude Code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프로젝트 설정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데이터 모델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CRUD API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프론트엔드 UI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인증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45분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테스트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배포 설정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총합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20.5시간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1.8시간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생산성 향상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Cursor (1세대)</a:t>
            </a:r>
            <a:r>
              <a:rPr/>
              <a:t> - 약 </a:t>
            </a:r>
            <a:r>
              <a:rPr b="1"/>
              <a:t>3.4배</a:t>
            </a:r>
            <a:r>
              <a:rPr/>
              <a:t> 빠름 - 시각적 피드백 장점 - UI 중심 작업에 최적</a:t>
            </a:r>
          </a:p>
          <a:p>
            <a:pPr lvl="0" indent="0" marL="0">
              <a:buNone/>
            </a:pPr>
            <a:r>
              <a:rPr b="1"/>
              <a:t>Claude Code (2세대)</a:t>
            </a:r>
            <a:r>
              <a:rPr/>
              <a:t> - 약 </a:t>
            </a:r>
            <a:r>
              <a:rPr b="1"/>
              <a:t>11.3배</a:t>
            </a:r>
            <a:r>
              <a:rPr/>
              <a:t> 빠름 - 완전 자동화 가능 - 백엔드/인프라에 최적</a:t>
            </a:r>
          </a:p>
        </p:txBody>
      </p:sp>
    </p:spTree>
  </p:cSld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실전 팁: 1세대 (IDE)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효율적인 프롬프트</a:t>
            </a:r>
          </a:p>
          <a:p>
            <a:pPr lvl="0" indent="0" marL="0">
              <a:buNone/>
            </a:pPr>
            <a:r>
              <a:rPr/>
              <a:t>❌ 나쁜 예: “컴포넌트 만들어줘”</a:t>
            </a:r>
          </a:p>
          <a:p>
            <a:pPr lvl="0" indent="0" marL="0">
              <a:buNone/>
            </a:pPr>
            <a:r>
              <a:rPr/>
              <a:t>✅ 좋은 예:</a:t>
            </a:r>
          </a:p>
          <a:p>
            <a:pPr lvl="0" indent="0">
              <a:buNone/>
            </a:pPr>
            <a:r>
              <a:rPr>
                <a:latin typeface="Courier"/>
              </a:rPr>
              <a:t>"사용자 프로필 카드 컴포넌트 만들어줘.
 - props: name, email, avatar, bio
 - Tailwind CSS 사용
 - 클릭 시 상세 페이지로 이동
 - 반응형 디자인"</a:t>
            </a:r>
          </a:p>
        </p:txBody>
      </p:sp>
    </p:spTree>
  </p:cSld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실전 팁: 1세대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Composer 모드 활용</a:t>
            </a:r>
            <a:r>
              <a:rPr/>
              <a:t> - 여러 파일을 한번에 수정 - </a:t>
            </a:r>
            <a:r>
              <a:rPr>
                <a:latin typeface="Courier"/>
              </a:rPr>
              <a:t>@파일명</a:t>
            </a:r>
            <a:r>
              <a:rPr/>
              <a:t>으로 특정 파일 참조 - 프로젝트 전체 맥락 활용</a:t>
            </a:r>
          </a:p>
          <a:p>
            <a:pPr lvl="0" indent="0" marL="0">
              <a:buNone/>
            </a:pPr>
            <a:r>
              <a:rPr b="1"/>
              <a:t>단축키 마스터</a:t>
            </a:r>
            <a:r>
              <a:rPr/>
              <a:t> - </a:t>
            </a:r>
            <a:r>
              <a:rPr>
                <a:latin typeface="Courier"/>
              </a:rPr>
              <a:t>Cmd/Ctrl + K</a:t>
            </a:r>
            <a:r>
              <a:rPr/>
              <a:t>: 프롬프트 입력 - </a:t>
            </a:r>
            <a:r>
              <a:rPr>
                <a:latin typeface="Courier"/>
              </a:rPr>
              <a:t>Cmd/Ctrl + L</a:t>
            </a:r>
            <a:r>
              <a:rPr/>
              <a:t>: 전체 프로젝트 검색 - </a:t>
            </a:r>
            <a:r>
              <a:rPr>
                <a:latin typeface="Courier"/>
              </a:rPr>
              <a:t>Cmd/Ctrl + Shift + P</a:t>
            </a:r>
            <a:r>
              <a:rPr/>
              <a:t>: 명령 팔레트</a:t>
            </a:r>
          </a:p>
        </p:txBody>
      </p:sp>
    </p:spTree>
  </p:cSld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실전 팁: 2세대 (CLI)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명확한 작업 단위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작은 단위로 분할</a:t>
            </a:r>
            <a:br/>
            <a:r>
              <a:rPr>
                <a:latin typeface="Courier"/>
              </a:rPr>
              <a:t>❌ </a:t>
            </a:r>
            <a:r>
              <a:rPr>
                <a:solidFill>
                  <a:srgbClr val="4070A0"/>
                </a:solidFill>
                <a:latin typeface="Courier"/>
              </a:rPr>
              <a:t>"전체 애플리케이션 만들어줘"</a:t>
            </a:r>
            <a:br/>
            <a:br/>
            <a:r>
              <a:rPr>
                <a:latin typeface="Courier"/>
              </a:rPr>
              <a:t>✅ </a:t>
            </a:r>
            <a:r>
              <a:rPr>
                <a:solidFill>
                  <a:srgbClr val="4070A0"/>
                </a:solidFill>
                <a:latin typeface="Courier"/>
              </a:rPr>
              <a:t>"먼저 데이터 모델 만들어줘"</a:t>
            </a:r>
            <a:br/>
            <a:r>
              <a:rPr>
                <a:latin typeface="Courier"/>
              </a:rPr>
              <a:t>✅ </a:t>
            </a:r>
            <a:r>
              <a:rPr>
                <a:solidFill>
                  <a:srgbClr val="4070A0"/>
                </a:solidFill>
                <a:latin typeface="Courier"/>
              </a:rPr>
              <a:t>"이제 CRUD API 만들어줘"</a:t>
            </a:r>
            <a:br/>
            <a:r>
              <a:rPr>
                <a:latin typeface="Courier"/>
              </a:rPr>
              <a:t>✅ </a:t>
            </a:r>
            <a:r>
              <a:rPr>
                <a:solidFill>
                  <a:srgbClr val="4070A0"/>
                </a:solidFill>
                <a:latin typeface="Courier"/>
              </a:rPr>
              <a:t>"테스트 코드 추가해줘"</a:t>
            </a:r>
          </a:p>
        </p:txBody>
      </p:sp>
    </p:spTree>
  </p:cSld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실전 팁: 2세대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Git 커밋 자주 하기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AI 작업 후 바로 커밋</a:t>
            </a:r>
            <a:br/>
            <a:r>
              <a:rPr>
                <a:latin typeface="Courier"/>
              </a:rPr>
              <a:t>$ git add .</a:t>
            </a:r>
            <a:br/>
            <a:r>
              <a:rPr>
                <a:latin typeface="Courier"/>
              </a:rPr>
              <a:t>$ git commit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"feat: Add user authentication"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문제 발생 시 쉽게 롤백</a:t>
            </a:r>
            <a:br/>
            <a:r>
              <a:rPr>
                <a:latin typeface="Courier"/>
              </a:rPr>
              <a:t>$ git reset </a:t>
            </a:r>
            <a:r>
              <a:rPr>
                <a:solidFill>
                  <a:srgbClr val="7D9029"/>
                </a:solidFill>
                <a:latin typeface="Courier"/>
              </a:rPr>
              <a:t>--hard</a:t>
            </a:r>
            <a:r>
              <a:rPr>
                <a:latin typeface="Courier"/>
              </a:rPr>
              <a:t> HEAD^</a:t>
            </a:r>
          </a:p>
          <a:p>
            <a:pPr lvl="0" indent="0" marL="0">
              <a:buNone/>
            </a:pPr>
            <a:r>
              <a:rPr b="1"/>
              <a:t>자동화 스크립트 활용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#!/bin/bash</a:t>
            </a:r>
            <a:br/>
            <a:r>
              <a:rPr>
                <a:latin typeface="Courier"/>
              </a:rPr>
              <a:t>claude-code </a:t>
            </a:r>
            <a:r>
              <a:rPr>
                <a:solidFill>
                  <a:srgbClr val="666666"/>
                </a:solidFill>
                <a:latin typeface="Courier"/>
              </a:rPr>
              <a:t>&lt;&lt; EOF</a:t>
            </a:r>
            <a:br/>
            <a:r>
              <a:rPr>
                <a:solidFill>
                  <a:srgbClr val="4070A0"/>
                </a:solidFill>
                <a:latin typeface="Courier"/>
              </a:rPr>
              <a:t>프로젝트 분석해서 README.md 업데이트해줘</a:t>
            </a:r>
            <a:br/>
            <a:r>
              <a:rPr>
                <a:solidFill>
                  <a:srgbClr val="4070A0"/>
                </a:solidFill>
                <a:latin typeface="Courier"/>
              </a:rPr>
              <a:t>테스트 실행해줘</a:t>
            </a:r>
            <a:br/>
            <a:r>
              <a:rPr>
                <a:solidFill>
                  <a:srgbClr val="4070A0"/>
                </a:solidFill>
                <a:latin typeface="Courier"/>
              </a:rPr>
              <a:t>커버리지 리포트 생성해줘</a:t>
            </a:r>
            <a:br/>
            <a:r>
              <a:rPr>
                <a:solidFill>
                  <a:srgbClr val="666666"/>
                </a:solidFill>
                <a:latin typeface="Courier"/>
              </a:rPr>
              <a:t>EOF</a:t>
            </a:r>
          </a:p>
        </p:txBody>
      </p:sp>
    </p:spTree>
  </p:cSld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복합 사례: 실시간 채팅 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1단계: 백엔드 (Claude Code) - 10분</a:t>
            </a:r>
          </a:p>
          <a:p>
            <a:pPr lvl="0" indent="0">
              <a:buNone/>
            </a:pP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Socket.IO 기반 채팅 서버 만들어줘:</a:t>
            </a:r>
            <a:br/>
            <a:r>
              <a:rPr>
                <a:latin typeface="Courier"/>
              </a:rPr>
              <a:t>  - 실시간 메시지 전송</a:t>
            </a:r>
            <a:br/>
            <a:r>
              <a:rPr>
                <a:latin typeface="Courier"/>
              </a:rPr>
              <a:t>  - 채팅방 관리</a:t>
            </a:r>
            <a:br/>
            <a:r>
              <a:rPr>
                <a:latin typeface="Courier"/>
              </a:rPr>
              <a:t>  - MongoDB에 메시지 저장</a:t>
            </a:r>
          </a:p>
          <a:p>
            <a:pPr lvl="0" indent="0" marL="0">
              <a:buNone/>
            </a:pPr>
            <a:r>
              <a:rPr b="1"/>
              <a:t>2단계: 프론트엔드 (Cursor) - 15분</a:t>
            </a:r>
          </a:p>
          <a:p>
            <a:pPr lvl="0" indent="0">
              <a:buNone/>
            </a:pPr>
            <a:r>
              <a:rPr>
                <a:latin typeface="Courier"/>
              </a:rPr>
              <a:t>Cmd+K: "Socket.IO 클라이언트로 채팅 UI 만들어줘"</a:t>
            </a:r>
          </a:p>
          <a:p>
            <a:pPr lvl="0" indent="0" marL="0">
              <a:buNone/>
            </a:pPr>
            <a:r>
              <a:rPr b="1"/>
              <a:t>3단계: 배포 (Claude Code) - 10분</a:t>
            </a:r>
          </a:p>
          <a:p>
            <a:pPr lvl="0" indent="0">
              <a:buNone/>
            </a:pP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Docker Compose로 컨테이너화해줘</a:t>
            </a:r>
            <a:br/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AWS ECS 배포 설정해줘</a:t>
            </a:r>
          </a:p>
        </p:txBody>
      </p:sp>
    </p:spTree>
  </p:cSld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복합 사례: 성과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총 소요 시간</a:t>
            </a:r>
            <a:r>
              <a:rPr/>
              <a:t>: 약 35분 </a:t>
            </a:r>
            <a:r>
              <a:rPr b="1"/>
              <a:t>전통 방식</a:t>
            </a:r>
            <a:r>
              <a:rPr/>
              <a:t>: 약 10-15시간 </a:t>
            </a:r>
            <a:r>
              <a:rPr b="1"/>
              <a:t>생산성 향상</a:t>
            </a:r>
            <a:r>
              <a:rPr/>
              <a:t>: </a:t>
            </a:r>
            <a:r>
              <a:rPr b="1"/>
              <a:t>17-25배</a:t>
            </a:r>
          </a:p>
        </p:txBody>
      </p:sp>
    </p:spTree>
  </p:cSld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주의사항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보안 체크리스트</a:t>
            </a:r>
            <a:r>
              <a:rPr/>
              <a:t> - SQL Injection 방어 확인 - XSS 방어 확인 - 인증/인가 로직 검증 - 민감 정보 하드코딩 여부 - API 키 노출 여부</a:t>
            </a:r>
          </a:p>
          <a:p>
            <a:pPr lvl="0" indent="0" marL="0">
              <a:buNone/>
            </a:pPr>
            <a:r>
              <a:rPr b="1"/>
              <a:t>품질 체크리스트</a:t>
            </a:r>
            <a:r>
              <a:rPr/>
              <a:t> - 에러 핸들링 적절성 - 테스트 커버리지 - 코드 가독성 - 성능 최적화 여부 - 문서화 완성도</a:t>
            </a:r>
          </a:p>
        </p:txBody>
      </p:sp>
    </p:spTree>
  </p:cSld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단계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작은 프로젝트부터 시작</a:t>
            </a:r>
            <a:r>
              <a:rPr/>
              <a:t> 1. Todo 앱, 블로그 등 2. 점진적 확대 3. 팀에 공유 4. 베스트 프랙티스 문서화</a:t>
            </a:r>
          </a:p>
        </p:txBody>
      </p:sp>
    </p:spTree>
  </p:cSld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7. 바이브 코딩 도입 로드맵</a:t>
            </a:r>
          </a:p>
        </p:txBody>
      </p:sp>
    </p:spTree>
  </p:cSld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도입 단계별 가이드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1단계</a:t>
            </a:r>
            <a:r>
              <a:rPr/>
              <a:t>: 평가 및 준비 (1-2주) </a:t>
            </a:r>
            <a:r>
              <a:rPr b="1"/>
              <a:t>2단계</a:t>
            </a:r>
            <a:r>
              <a:rPr/>
              <a:t>: 시작하기 (2-4주) </a:t>
            </a:r>
            <a:r>
              <a:rPr b="1"/>
              <a:t>3단계</a:t>
            </a:r>
            <a:r>
              <a:rPr/>
              <a:t>: 숙련도 향상 (1-2개월) </a:t>
            </a:r>
            <a:r>
              <a:rPr b="1"/>
              <a:t>4단계</a:t>
            </a:r>
            <a:r>
              <a:rPr/>
              <a:t>: 고급 활용 (2-3개월)</a:t>
            </a:r>
          </a:p>
        </p:txBody>
      </p:sp>
    </p:spTree>
  </p:cSld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1단계: 평가 및 준비 (1-2주)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현황 분석 체크리스트</a:t>
            </a:r>
          </a:p>
          <a:p>
            <a:pPr lvl="0" indent="0">
              <a:buNone/>
            </a:pPr>
            <a:r>
              <a:rPr>
                <a:latin typeface="Courier"/>
              </a:rPr>
              <a:t>□ 현재 개발 프로세스 파악
□ 팀원 기술 스택 확인
□ 예산 및 리소스 검토
□ 보안 정책 확인
□ 법적 검토 (필요시)</a:t>
            </a:r>
          </a:p>
        </p:txBody>
      </p:sp>
    </p:spTree>
  </p:cSld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1단계: 목표 설정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단기 목표 (1-3개월)</a:t>
            </a:r>
            <a:r>
              <a:rPr/>
              <a:t> - 개인 생산성 향상</a:t>
            </a:r>
          </a:p>
          <a:p>
            <a:pPr lvl="0" indent="0" marL="0">
              <a:buNone/>
            </a:pPr>
            <a:r>
              <a:rPr b="1"/>
              <a:t>중기 목표 (3-6개월)</a:t>
            </a:r>
            <a:r>
              <a:rPr/>
              <a:t> - 팀 전체 적용</a:t>
            </a:r>
          </a:p>
          <a:p>
            <a:pPr lvl="0" indent="0" marL="0">
              <a:buNone/>
            </a:pPr>
            <a:r>
              <a:rPr b="1"/>
              <a:t>장기 목표 (6-12개월)</a:t>
            </a:r>
            <a:r>
              <a:rPr/>
              <a:t> - 워크플로우 최적화</a:t>
            </a:r>
          </a:p>
        </p:txBody>
      </p:sp>
    </p:spTree>
  </p:cSld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1단계: 도구 선택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선택 기준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1세대 추천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2세대 추천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팀 대부분이 초보자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 사용 익숙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Claude Code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프론트엔드 중심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DevOps/백엔드 중심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Claude Code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제한된 예산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Cline (무료)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2단계: 시작하기 (2-4주)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개인 학습 (Week 1-2)</a:t>
            </a:r>
          </a:p>
          <a:p>
            <a:pPr lvl="0" indent="0" marL="0">
              <a:buNone/>
            </a:pPr>
            <a:r>
              <a:rPr b="1"/>
              <a:t>Day 1-3: 기본 설정</a:t>
            </a:r>
          </a:p>
          <a:p>
            <a:pPr lvl="0" indent="0">
              <a:buNone/>
            </a:pPr>
            <a:r>
              <a:rPr>
                <a:latin typeface="Courier"/>
              </a:rPr>
              <a:t>□ 도구 설치 및 설정
□ API 키 발급
□ 첫 번째 프롬프트 실행
□ 간단한 Hello World 생성</a:t>
            </a:r>
          </a:p>
        </p:txBody>
      </p:sp>
    </p:spTree>
  </p:cSld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2단계: 기본 기능 익히기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Day 4-7: 기본 기능</a:t>
            </a:r>
          </a:p>
          <a:p>
            <a:pPr lvl="0" indent="0">
              <a:buNone/>
            </a:pPr>
            <a:r>
              <a:rPr>
                <a:latin typeface="Courier"/>
              </a:rPr>
              <a:t>□ 코드 생성 요청 연습
□ 파일 수정 요청
□ 오류 수정 요청
□ Git 통합 사용</a:t>
            </a:r>
          </a:p>
          <a:p>
            <a:pPr lvl="0" indent="0" marL="0">
              <a:buNone/>
            </a:pPr>
            <a:r>
              <a:rPr b="1"/>
              <a:t>Day 8-14: 실전 적용</a:t>
            </a:r>
          </a:p>
          <a:p>
            <a:pPr lvl="0" indent="0">
              <a:buNone/>
            </a:pPr>
            <a:r>
              <a:rPr>
                <a:latin typeface="Courier"/>
              </a:rPr>
              <a:t>□ 사이드 프로젝트에 적용
□ 작은 기능 구현
□ 코드 리뷰 습관 형성
□ 베스트 프랙티스 학습</a:t>
            </a:r>
          </a:p>
        </p:txBody>
      </p:sp>
    </p:spTree>
  </p:cSld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2단계: 팀 파일럿 (Week 3-4)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파일럿 프로그램</a:t>
            </a:r>
          </a:p>
          <a:p>
            <a:pPr lvl="0" indent="0">
              <a:buNone/>
            </a:pPr>
            <a:r>
              <a:rPr>
                <a:latin typeface="Courier"/>
              </a:rPr>
              <a:t>1. 파일럿 그룹 선정 (2-3명)
2. 작은 프로젝트/기능 선택
3. 1주일 집중 사용
4. 결과 측정 및 공유</a:t>
            </a:r>
          </a:p>
          <a:p>
            <a:pPr lvl="0" indent="0" marL="0">
              <a:buNone/>
            </a:pPr>
            <a:r>
              <a:rPr b="1"/>
              <a:t>측정 지표</a:t>
            </a:r>
            <a:r>
              <a:rPr/>
              <a:t> - 개발 시간 변화 - 코드 품질 변화 - 버그 발생률 - 팀원 만족도</a:t>
            </a:r>
          </a:p>
        </p:txBody>
      </p:sp>
    </p:spTree>
  </p:cSld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3단계: 숙련도 향상 (1-2개월)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1세대 (IDE) 고급 기법</a:t>
            </a:r>
          </a:p>
          <a:p>
            <a:pPr lvl="0" indent="0">
              <a:buNone/>
            </a:pPr>
            <a:r>
              <a:rPr>
                <a:latin typeface="Courier"/>
              </a:rPr>
              <a:t>□ Composer 모드 마스터
□ @mentions 활용
□ 멀티파일 리팩토링
□ 커스텀 프롬프트 템플릿
□ IDE 단축키 최적화</a:t>
            </a:r>
          </a:p>
        </p:txBody>
      </p:sp>
    </p:spTree>
  </p:cSld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3단계: 고급 기능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2세대 (CLI) 고급 기법</a:t>
            </a:r>
          </a:p>
          <a:p>
            <a:pPr lvl="0" indent="0">
              <a:buNone/>
            </a:pPr>
            <a:r>
              <a:rPr>
                <a:latin typeface="Courier"/>
              </a:rPr>
              <a:t>□ 복잡한 프롬프트 작성
□ 쉘 스크립트 통합
□ CI/CD 파이프라인 연동
□ 자동화 워크플로우 구축
□ 멀티 프로젝트 관리</a:t>
            </a:r>
          </a:p>
        </p:txBody>
      </p:sp>
    </p:spTree>
  </p:cSld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3단계: 팀 베스트 프랙티스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가이드라인 수립</a:t>
            </a:r>
          </a:p>
          <a:p>
            <a:pPr lvl="0" indent="0" marL="0">
              <a:buNone/>
            </a:pPr>
            <a:r>
              <a:rPr b="1"/>
              <a:t>프롬프트 작성 규칙</a:t>
            </a:r>
            <a:r>
              <a:rPr/>
              <a:t> - 명확하고 구체적으로 - 기술 스택 명시 - 예상 결과 설명</a:t>
            </a:r>
          </a:p>
          <a:p>
            <a:pPr lvl="0" indent="0" marL="0">
              <a:buNone/>
            </a:pPr>
            <a:r>
              <a:rPr b="1"/>
              <a:t>코드 리뷰 프로세스</a:t>
            </a:r>
            <a:r>
              <a:rPr/>
              <a:t> - AI 생성 코드는 반드시 리뷰 - 보안 체크리스트 적용 - 테스트 코드 필수</a:t>
            </a:r>
          </a:p>
        </p:txBody>
      </p:sp>
    </p:spTree>
  </p:cSld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3단계: Git 커밋 규칙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AI 작업 후 즉시 커밋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.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"AI: 사용자 인증 기능 추가"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커밋 메시지에 "AI:" 접두사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정기적인 푸시</a:t>
            </a:r>
          </a:p>
        </p:txBody>
      </p:sp>
    </p:spTree>
  </p:cSld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4단계: 고급 활용 (2-3개월)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워크플로우 최적화</a:t>
            </a:r>
          </a:p>
          <a:p>
            <a:pPr lvl="0" indent="0" marL="0">
              <a:buNone/>
            </a:pPr>
            <a:r>
              <a:rPr b="1"/>
              <a:t>자동화 파이프라인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AI-Powered CI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7D9029"/>
                </a:solidFill>
                <a:latin typeface="Courier"/>
              </a:rPr>
              <a:t>push</a:t>
            </a:r>
            <a:r>
              <a:rPr b="1">
                <a:solidFill>
                  <a:srgbClr val="007020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jobs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ai-review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runs-on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ubuntu-latest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steps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uses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actions/checkout@v2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AI Code Review</a:t>
            </a:r>
            <a:br/>
            <a:r>
              <a:rPr>
                <a:solidFill>
                  <a:srgbClr val="06287E"/>
                </a:solidFill>
                <a:latin typeface="Courier"/>
              </a:rPr>
              <a:t>        run</a:t>
            </a:r>
            <a:r>
              <a:rPr b="1">
                <a:solidFill>
                  <a:srgbClr val="007020"/>
                </a:solidFill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br/>
            <a:r>
              <a:rPr>
                <a:latin typeface="Courier"/>
              </a:rPr>
              <a:t>          claude-code &lt;&lt; EOF</a:t>
            </a:r>
            <a:br/>
            <a:r>
              <a:rPr>
                <a:latin typeface="Courier"/>
              </a:rPr>
              <a:t>          코드 품질 분석해줘</a:t>
            </a:r>
            <a:br/>
            <a:r>
              <a:rPr>
                <a:latin typeface="Courier"/>
              </a:rPr>
              <a:t>          보안 취약점 찾아줘</a:t>
            </a:r>
            <a:br/>
            <a:r>
              <a:rPr>
                <a:latin typeface="Courier"/>
              </a:rPr>
              <a:t>          테스트 커버리지 확인해줘</a:t>
            </a:r>
            <a:br/>
            <a:r>
              <a:rPr>
                <a:latin typeface="Courier"/>
              </a:rPr>
              <a:t>          EOF</a:t>
            </a:r>
          </a:p>
        </p:txBody>
      </p:sp>
    </p:spTree>
  </p:cSld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4단계: 팀 협업 패턴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패턴 1: AI 페어 프로그래밍</a:t>
            </a:r>
          </a:p>
          <a:p>
            <a:pPr lvl="0" indent="0">
              <a:buNone/>
            </a:pPr>
            <a:r>
              <a:rPr>
                <a:latin typeface="Courier"/>
              </a:rPr>
              <a:t>주니어 개발자 + Claude Code
  ↓
시니어 개발자 리뷰
  ↓
배포</a:t>
            </a:r>
          </a:p>
          <a:p>
            <a:pPr lvl="0" indent="0" marL="0">
              <a:buNone/>
            </a:pPr>
            <a:r>
              <a:rPr b="1"/>
              <a:t>패턴 2: AI 코드 리뷰</a:t>
            </a:r>
          </a:p>
          <a:p>
            <a:pPr lvl="0" indent="0">
              <a:buNone/>
            </a:pPr>
            <a:r>
              <a:rPr>
                <a:latin typeface="Courier"/>
              </a:rPr>
              <a:t>개발자 코드 작성
  ↓
AI 1차 리뷰 (Claude Code)
  ↓
동료 2차 리뷰
  ↓
배포</a:t>
            </a:r>
          </a:p>
        </p:txBody>
      </p:sp>
    </p:spTree>
  </p:cSld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4단계: 협업 패턴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패턴 3: AI 테스트 생성</a:t>
            </a:r>
          </a:p>
          <a:p>
            <a:pPr lvl="0" indent="0">
              <a:buNone/>
            </a:pPr>
            <a:r>
              <a:rPr>
                <a:latin typeface="Courier"/>
              </a:rPr>
              <a:t>개발자 기능 구현
  ↓
AI 테스트 코드 자동 생성
  ↓
개발자 테스트 검증
  ↓
배포</a:t>
            </a:r>
          </a:p>
        </p:txBody>
      </p:sp>
    </p:spTree>
  </p:cSld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개인 개발자 도입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추천 경로</a:t>
            </a:r>
          </a:p>
          <a:p>
            <a:pPr lvl="0" indent="0">
              <a:buNone/>
            </a:pPr>
            <a:r>
              <a:rPr>
                <a:latin typeface="Courier"/>
              </a:rPr>
              <a:t>Week 1-2: Cursor로 시작
  - 간단한 프로젝트
  - 기본 기능 학습
Week 3-4: 프로젝트 적용
  - 실제 작업에 사용
  - 생산성 측정
Month 2: 고급 기능
  - Composer 모드
  - 복잡한 리팩토링
Month 3: CLI 도전
  - Claude Code 시도
  - 자동화 구축</a:t>
            </a:r>
          </a:p>
          <a:p>
            <a:pPr lvl="0" indent="0" marL="0">
              <a:buNone/>
            </a:pPr>
            <a:r>
              <a:rPr b="1"/>
              <a:t>예산</a:t>
            </a:r>
            <a:r>
              <a:rPr/>
              <a:t>: $20/월 </a:t>
            </a:r>
            <a:r>
              <a:rPr b="1"/>
              <a:t>예상 ROI</a:t>
            </a:r>
            <a:r>
              <a:rPr/>
              <a:t>: 첫 달부터 시간 절약</a:t>
            </a:r>
          </a:p>
        </p:txBody>
      </p:sp>
    </p:spTree>
  </p:cSld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소규모 팀 (2-5명) 도입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1: 파일럿 (2주)</a:t>
            </a:r>
          </a:p>
          <a:p>
            <a:pPr lvl="0" indent="0">
              <a:buNone/>
            </a:pPr>
            <a:r>
              <a:rPr>
                <a:latin typeface="Courier"/>
              </a:rPr>
              <a:t>- 1-2명 선발
- Cursor로 시작
- 작은 기능 구현
- 성과 측정</a:t>
            </a:r>
          </a:p>
          <a:p>
            <a:pPr lvl="0" indent="0" marL="0">
              <a:buNone/>
            </a:pPr>
            <a:r>
              <a:rPr b="1"/>
              <a:t>Phase 2: 확대 (4주)</a:t>
            </a:r>
          </a:p>
          <a:p>
            <a:pPr lvl="0" indent="0">
              <a:buNone/>
            </a:pPr>
            <a:r>
              <a:rPr>
                <a:latin typeface="Courier"/>
              </a:rPr>
              <a:t>- 전체 팀 적용
- 내부 가이드 작성
- 주간 공유 세션
- 문제 해결 협력</a:t>
            </a:r>
          </a:p>
        </p:txBody>
      </p:sp>
    </p:spTree>
  </p:cSld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소규모 팀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3: 최적화 (2개월)</a:t>
            </a:r>
          </a:p>
          <a:p>
            <a:pPr lvl="0" indent="0">
              <a:buNone/>
            </a:pPr>
            <a:r>
              <a:rPr>
                <a:latin typeface="Courier"/>
              </a:rPr>
              <a:t>- 팀 워크플로우 정립
- 베스트 프랙티스 문서화
- CLI 도구 도입 검토
- 자동화 구축</a:t>
            </a:r>
          </a:p>
          <a:p>
            <a:pPr lvl="0" indent="0" marL="0">
              <a:buNone/>
            </a:pPr>
            <a:r>
              <a:rPr b="1"/>
              <a:t>예산</a:t>
            </a:r>
            <a:r>
              <a:rPr/>
              <a:t>: $20/월 × 5명 = $100/월 </a:t>
            </a:r>
            <a:r>
              <a:rPr b="1"/>
              <a:t>예상 ROI</a:t>
            </a:r>
            <a:r>
              <a:rPr/>
              <a:t>: 2-3개월 내 회수</a:t>
            </a:r>
          </a:p>
        </p:txBody>
      </p:sp>
    </p:spTree>
  </p:cSld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중형 팀 (6-20명) 도입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Q1: 파일럿 프로그램</a:t>
            </a:r>
          </a:p>
          <a:p>
            <a:pPr lvl="0" indent="0">
              <a:buNone/>
            </a:pPr>
            <a:r>
              <a:rPr>
                <a:latin typeface="Courier"/>
              </a:rPr>
              <a:t>- 부서별 1-2명 선발 (총 3-5명)
- 2개월 집중 사용
- 상세 데이터 수집
- 성과 발표</a:t>
            </a:r>
          </a:p>
          <a:p>
            <a:pPr lvl="0" indent="0" marL="0">
              <a:buNone/>
            </a:pPr>
            <a:r>
              <a:rPr b="1"/>
              <a:t>Q2: 부서별 확대</a:t>
            </a:r>
          </a:p>
          <a:p>
            <a:pPr lvl="0" indent="0">
              <a:buNone/>
            </a:pPr>
            <a:r>
              <a:rPr>
                <a:latin typeface="Courier"/>
              </a:rPr>
              <a:t>- 각 부서 50% 도입
- 부서별 챔피언 지정
- 내부 교육 프로그램
- Slack 채널 운영</a:t>
            </a:r>
          </a:p>
        </p:txBody>
      </p:sp>
    </p:spTree>
  </p:cSld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중형 팀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Q3: 전사 확대</a:t>
            </a:r>
          </a:p>
          <a:p>
            <a:pPr lvl="0" indent="0">
              <a:buNone/>
            </a:pPr>
            <a:r>
              <a:rPr>
                <a:latin typeface="Courier"/>
              </a:rPr>
              <a:t>- 전체 개발팀 적용
- 공식 가이드라인 수립
- 라이선스 협상
- KPI 모니터링</a:t>
            </a:r>
          </a:p>
          <a:p>
            <a:pPr lvl="0" indent="0" marL="0">
              <a:buNone/>
            </a:pPr>
            <a:r>
              <a:rPr b="1"/>
              <a:t>Q4: 고도화</a:t>
            </a:r>
          </a:p>
          <a:p>
            <a:pPr lvl="0" indent="0">
              <a:buNone/>
            </a:pPr>
            <a:r>
              <a:rPr>
                <a:latin typeface="Courier"/>
              </a:rPr>
              <a:t>- CI/CD 통합
- 자동화 파이프라인
- 커스텀 워크플로우
- 지속적 개선</a:t>
            </a:r>
          </a:p>
          <a:p>
            <a:pPr lvl="0" indent="0" marL="0">
              <a:buNone/>
            </a:pPr>
            <a:r>
              <a:rPr b="1"/>
              <a:t>예산</a:t>
            </a:r>
            <a:r>
              <a:rPr/>
              <a:t>: $20/월 × 20명 = $400/월 </a:t>
            </a:r>
            <a:r>
              <a:rPr b="1"/>
              <a:t>협상 팁</a:t>
            </a:r>
            <a:r>
              <a:rPr/>
              <a:t>: 10명 이상은 단체 할인 문의</a:t>
            </a:r>
          </a:p>
        </p:txBody>
      </p:sp>
    </p:spTree>
  </p:cSld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대규모 조직 (20명+) 도입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준비 단계 (1-2개월)</a:t>
            </a:r>
          </a:p>
          <a:p>
            <a:pPr lvl="0" indent="0">
              <a:buNone/>
            </a:pPr>
            <a:r>
              <a:rPr>
                <a:latin typeface="Courier"/>
              </a:rPr>
              <a:t>□ 경영진 승인
□ 법무/보안 검토
□ 예산 확보
□ 전담 TF 구성
□ 벤더 협상</a:t>
            </a:r>
          </a:p>
          <a:p>
            <a:pPr lvl="0" indent="0" marL="0">
              <a:buNone/>
            </a:pPr>
            <a:r>
              <a:rPr b="1"/>
              <a:t>파일럿 (3개월)</a:t>
            </a:r>
          </a:p>
          <a:p>
            <a:pPr lvl="0" indent="0">
              <a:buNone/>
            </a:pPr>
            <a:r>
              <a:rPr>
                <a:latin typeface="Courier"/>
              </a:rPr>
              <a:t>□ 3개 팀 선정
□ 각 팀 다른 도구 테스트
□ 상세 데이터 수집
□ ROI 분석
□ 보안 감사</a:t>
            </a:r>
          </a:p>
        </p:txBody>
      </p:sp>
    </p:spTree>
  </p:cSld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대규모 조직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확대 (6개월)</a:t>
            </a:r>
          </a:p>
          <a:p>
            <a:pPr lvl="0" indent="0">
              <a:buNone/>
            </a:pPr>
            <a:r>
              <a:rPr>
                <a:latin typeface="Courier"/>
              </a:rPr>
              <a:t>□ 우선순위 부서부터
□ 단계적 롤아웃
□ 전담 교육팀 운영
□ 내부 지원 체계
□ 정기 피드백</a:t>
            </a:r>
          </a:p>
          <a:p>
            <a:pPr lvl="0" indent="0" marL="0">
              <a:buNone/>
            </a:pPr>
            <a:r>
              <a:rPr b="1"/>
              <a:t>안정화 (6-12개월)</a:t>
            </a:r>
          </a:p>
          <a:p>
            <a:pPr lvl="0" indent="0">
              <a:buNone/>
            </a:pPr>
            <a:r>
              <a:rPr>
                <a:latin typeface="Courier"/>
              </a:rPr>
              <a:t>□ 전사 표준화
□ 자동화 고도화
□ 성과 측정 체계
□ 지속적 개선</a:t>
            </a:r>
          </a:p>
        </p:txBody>
      </p:sp>
    </p:spTree>
  </p:cSld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주의사항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피해야 할 것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맹신하지 않기</a:t>
            </a:r>
            <a:r>
              <a:rPr/>
              <a:t> - AI 코드를 무조건 신뢰하지 말 것 - 항상 코드 리뷰 필수 - 보안 취약점 수동 검증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과도한 의존</a:t>
            </a:r>
            <a:r>
              <a:rPr/>
              <a:t> - 기본 코딩 스킬 유지 - 알고리즘 이해도 중요 - 문제 해결 능력 계속 연마</a:t>
            </a:r>
          </a:p>
        </p:txBody>
      </p:sp>
    </p:spTree>
  </p:cSld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주의사항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❌ </a:t>
            </a:r>
            <a:r>
              <a:rPr b="1"/>
              <a:t>민감 정보 공유</a:t>
            </a:r>
            <a:r>
              <a:rPr/>
              <a:t> - API 키, 비밀번호 절대 입력 금지 - 고객 데이터 공유 금지 - 회사 내부 정보 주의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한 번에 너무 많이</a:t>
            </a:r>
            <a:r>
              <a:rPr/>
              <a:t> - 점진적 도입이 핵심 - 작은 성공부터 쌓기 - 팀원 속도 맞추기</a:t>
            </a:r>
          </a:p>
        </p:txBody>
      </p:sp>
    </p:spTree>
  </p:cSld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권장사항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</a:t>
            </a:r>
            <a:r>
              <a:rPr b="1"/>
              <a:t>코드 리뷰 문화</a:t>
            </a:r>
            <a:r>
              <a:rPr/>
              <a:t> - 모든 AI 생성 코드 리뷰 - 페어 프로그래밍 활용 - 정기적인 품질 검토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지속적 학습</a:t>
            </a:r>
            <a:r>
              <a:rPr/>
              <a:t> - 최신 도구 동향 파악 - 새로운 기법 실험 - 팀 내 지식 공유</a:t>
            </a:r>
          </a:p>
        </p:txBody>
      </p:sp>
    </p:spTree>
  </p:cSld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권장사항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</a:t>
            </a:r>
            <a:r>
              <a:rPr b="1"/>
              <a:t>데이터 기반 의사결정</a:t>
            </a:r>
            <a:r>
              <a:rPr/>
              <a:t> - 생산성 지표 측정 - 정기적인 회고 - 개선 사항 문서화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보안 우선</a:t>
            </a:r>
            <a:r>
              <a:rPr/>
              <a:t> - 정기 보안 감사 - 민감 정보 보호 규칙 - 접근 권한 관리</a:t>
            </a:r>
          </a:p>
        </p:txBody>
      </p:sp>
    </p:spTree>
  </p:cSld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성공 체크리스트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1개월 후</a:t>
            </a:r>
            <a:r>
              <a:rPr/>
              <a:t> - [ ] 기본 기능 숙달 - [ ] 실제 프로젝트 적용 - [ ] 생산성 20% 향상 - [ ] 팀원 1명 이상 동참</a:t>
            </a:r>
          </a:p>
          <a:p>
            <a:pPr lvl="0" indent="0" marL="0">
              <a:buNone/>
            </a:pPr>
            <a:r>
              <a:rPr b="1"/>
              <a:t>3개월 후</a:t>
            </a:r>
            <a:r>
              <a:rPr/>
              <a:t> - [ ] 고급 기능 활용 - [ ] 생산성 40% 향상 - [ ] 팀 워크플로우 정립 - [ ] 베스트 프랙티스 문서화</a:t>
            </a:r>
          </a:p>
        </p:txBody>
      </p:sp>
    </p:spTree>
  </p:cSld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성공 체크리스트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6개월 후</a:t>
            </a:r>
            <a:r>
              <a:rPr/>
              <a:t> - [ ] 전체 팀 적용 - [ ] 자동화 파이프라인 구축 - [ ] 생산성 50%+ 향상 - [ ] ROI 명확히 입증</a:t>
            </a:r>
          </a:p>
        </p:txBody>
      </p:sp>
    </p:spTree>
  </p:cSld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단계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지금 바로 시작</a:t>
            </a:r>
            <a:r>
              <a:rPr/>
              <a:t> 1. 오늘부터 작은 프로젝트에 적용 2. 팀과 공유: 성공 경험 공유하여 동기 부여 3. 지속적 개선: 계속해서 새로운 방법 탐색 4. 커뮤니티 참여: 다른 개발자들과 경험 교류</a:t>
            </a:r>
          </a:p>
        </p:txBody>
      </p:sp>
    </p:spTree>
  </p:cSld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8. 자주 묻는 질문 (Q&amp;A)</a:t>
            </a:r>
          </a:p>
        </p:txBody>
      </p:sp>
    </p:spTree>
  </p:cSld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도구 선택 관련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Q1: 처음 시작하는 개발자에게 어떤 도구를 추천하나요?</a:t>
            </a:r>
          </a:p>
          <a:p>
            <a:pPr lvl="0" indent="0" marL="0">
              <a:buNone/>
            </a:pPr>
            <a:r>
              <a:rPr b="1"/>
              <a:t>추천</a:t>
            </a:r>
            <a:r>
              <a:rPr/>
              <a:t>: 1세대 (Cursor)</a:t>
            </a:r>
          </a:p>
          <a:p>
            <a:pPr lvl="0" indent="0" marL="0">
              <a:buNone/>
            </a:pPr>
            <a:r>
              <a:rPr b="1"/>
              <a:t>이유</a:t>
            </a:r>
            <a:r>
              <a:rPr/>
              <a:t>: - GUI 환경이 직관적하고 학습 곡선이 낮음 - 시각적 피드백으로 변경사항을 즉시 확인 가능 - VSCode와 유사한 인터페이스로 친숙함</a:t>
            </a:r>
          </a:p>
        </p:txBody>
      </p:sp>
    </p:spTree>
  </p:cSld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Q1: 학습 경로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Week 1-2</a:t>
            </a:r>
            <a:r>
              <a:rPr/>
              <a:t>: Cursor 기본 기능 익히기 - Cmd/Ctrl + K로 간단한 요청 - diff 모드로 변경사항 확인 - 작은 컴포넌트 생성 연습</a:t>
            </a:r>
          </a:p>
          <a:p>
            <a:pPr lvl="0" indent="0" marL="0">
              <a:buNone/>
            </a:pPr>
            <a:r>
              <a:rPr b="1"/>
              <a:t>Week 3-4</a:t>
            </a:r>
            <a:r>
              <a:rPr/>
              <a:t>: 실전 프로젝트 적용 - 사이드 프로젝트에 활용 - 코드 리뷰 습관 형성 - 베스트 프랙티스 학습</a:t>
            </a:r>
          </a:p>
        </p:txBody>
      </p:sp>
    </p:spTree>
  </p:cSld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Q2: Cursor와 Claude Code 중 선택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비교 기준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Cursor 추천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Claude Code 추천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터미널 경험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없음/초보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능숙함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주요 작업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프론트엔드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백엔드/인프라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프로젝트 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1-2개 집중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다중 프로젝트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로컬 리소스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충분 (8GB+)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제한적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자동화 필요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낮음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높음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Q2: 권장사항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두 도구를 모두 사용하는 것도 좋은 전략</a:t>
            </a:r>
          </a:p>
          <a:p>
            <a:pPr lvl="0" indent="0">
              <a:buNone/>
            </a:pPr>
            <a:r>
              <a:rPr>
                <a:latin typeface="Courier"/>
              </a:rPr>
              <a:t>프론트엔드 작업: Cursor (UI 프리뷰 필요)
백엔드/인프라: Claude Code (자동화 효율적)
테스트/배포: Claude Code (스크립트 자동화)</a:t>
            </a:r>
          </a:p>
        </p:txBody>
      </p:sp>
    </p:spTree>
  </p:cSld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Q3: 무료로 시작할 수 있는 도구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무료 옵션</a:t>
            </a:r>
          </a:p>
          <a:p>
            <a:pPr lvl="0" indent="0" marL="0">
              <a:buNone/>
            </a:pPr>
            <a:r>
              <a:rPr b="1"/>
              <a:t>Cline (VSCode 확장)</a:t>
            </a:r>
            <a:r>
              <a:rPr/>
              <a:t> - 완전 무료 오픈소스 - 다양한 LLM 모델 선택 가능 - 자체 API 키 사용 시 비용만 지불</a:t>
            </a:r>
          </a:p>
          <a:p>
            <a:pPr lvl="0" indent="0" marL="0">
              <a:buNone/>
            </a:pPr>
            <a:r>
              <a:rPr b="1"/>
              <a:t>ChatGPT 무료 버전</a:t>
            </a:r>
            <a:r>
              <a:rPr/>
              <a:t> - 기본적인 코드 생성 가능 - 복사-붙여넣기 방식 - 제한적이지만 학습용으로 적합</a:t>
            </a:r>
          </a:p>
        </p:txBody>
      </p:sp>
    </p:spTree>
  </p:cSld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Q3: 추천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1단계: ChatGPT 무료 버전으로 개념 이해
2단계: Cline으로 IDE 통합 경험
3단계: 생산성 확인 후 유료 도구 선택</a:t>
            </a:r>
          </a:p>
        </p:txBody>
      </p:sp>
    </p:spTree>
  </p:cSld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비용 및 ROI 관련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Q4: 월 $20가 비싸지 않나요?</a:t>
            </a:r>
          </a:p>
          <a:p>
            <a:pPr lvl="0" indent="0" marL="0">
              <a:buNone/>
            </a:pPr>
            <a:r>
              <a:rPr b="1"/>
              <a:t>ROI 분석 (중급 개발자 기준)</a:t>
            </a:r>
          </a:p>
          <a:p>
            <a:pPr lvl="0" indent="0">
              <a:buNone/>
            </a:pPr>
            <a:r>
              <a:rPr>
                <a:latin typeface="Courier"/>
              </a:rPr>
              <a:t>시간 절감: 주 15시간 (월 60시간)
개발자 시급: $50 (평균)
절감 비용: 60시간 × $50 = $3,000/월
도구 비용: $20/월
순이익: $2,980/월
ROI: 14,900%</a:t>
            </a:r>
          </a:p>
        </p:txBody>
      </p:sp>
    </p:spTree>
  </p:cSld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Q4: 실제 사례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작업 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기존 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도구 사용 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절감률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CRUD API 구현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87.5%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컴포넌트 생성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테스트 작성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버그 수정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2시간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75%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결론</a:t>
            </a:r>
            <a:r>
              <a:rPr/>
              <a:t>: 첫 달부터 비용 대비 효과가 압도적</a:t>
            </a:r>
          </a:p>
        </p:txBody>
      </p:sp>
    </p:spTree>
  </p:cSld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Q5: 회사 단체 도입 시 비용 절감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라이선스 협상 전략</a:t>
            </a:r>
          </a:p>
          <a:p>
            <a:pPr lvl="0" indent="0" marL="0">
              <a:buNone/>
            </a:pPr>
            <a:r>
              <a:rPr b="1"/>
              <a:t>소규모 팀 (5-10명)</a:t>
            </a:r>
            <a:r>
              <a:rPr/>
              <a:t> - 개별 구독으로 시작 - 성과 측정 후 협상 - 예상 비용: $100-200/월</a:t>
            </a:r>
          </a:p>
          <a:p>
            <a:pPr lvl="0" indent="0" marL="0">
              <a:buNone/>
            </a:pPr>
            <a:r>
              <a:rPr b="1"/>
              <a:t>중형 팀 (10-20명)</a:t>
            </a:r>
            <a:r>
              <a:rPr/>
              <a:t> - 단체 할인 문의 (10-15% 할인) - 연간 계약으로 추가 할인 - 예상 비용: $200-350/월</a:t>
            </a:r>
          </a:p>
        </p:txBody>
      </p:sp>
    </p:spTree>
  </p:cSld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Q5: 협상 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✅ 파일럿 결과 데이터 준비
✅ 생산성 향상 수치 제시
✅ 장기 계약 제안
✅ 경쟁 도구 견적 비교</a:t>
            </a:r>
          </a:p>
        </p:txBody>
      </p:sp>
    </p:spTree>
  </p:cSld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보안 및 데이터 관련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Q6: 코드를 AI에게 보내도 안전한가요?</a:t>
            </a:r>
          </a:p>
          <a:p>
            <a:pPr lvl="0" indent="0" marL="0">
              <a:buNone/>
            </a:pPr>
            <a:r>
              <a:rPr b="1"/>
              <a:t>안전 사용 원칙</a:t>
            </a:r>
          </a:p>
          <a:p>
            <a:pPr lvl="0" indent="0">
              <a:buNone/>
            </a:pPr>
            <a:r>
              <a:rPr>
                <a:latin typeface="Courier"/>
              </a:rPr>
              <a:t>❌ 절대 공유 금지:
- API 키, 비밀번호
- 고객 개인정보
- 회사 기밀 정보
- 프로덕션 데이터
✅ 안전하게 공유 가능:
- 일반적인 코드 로직
- 공개 라이브러리 사용법
- 알고리즘 구현
- 테스트 코드</a:t>
            </a:r>
          </a:p>
        </p:txBody>
      </p:sp>
    </p:spTree>
  </p:cSld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Q6: 기업용 솔루션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보안 강화 옵션</a:t>
            </a:r>
            <a:r>
              <a:rPr/>
              <a:t> - </a:t>
            </a:r>
            <a:r>
              <a:rPr b="1"/>
              <a:t>Cursor Business</a:t>
            </a:r>
            <a:r>
              <a:rPr/>
              <a:t>: 데이터 보관 없음 - </a:t>
            </a:r>
            <a:r>
              <a:rPr b="1"/>
              <a:t>Claude Code Enterprise</a:t>
            </a:r>
            <a:r>
              <a:rPr/>
              <a:t>: SOC 2 인증, 데이터 격리 - </a:t>
            </a:r>
            <a:r>
              <a:rPr b="1"/>
              <a:t>자체 호스팅 옵션</a:t>
            </a:r>
            <a:r>
              <a:rPr/>
              <a:t>: 온프레미스 배포 가능</a:t>
            </a:r>
          </a:p>
          <a:p>
            <a:pPr lvl="0" indent="0" marL="0">
              <a:buNone/>
            </a:pPr>
            <a:r>
              <a:rPr b="1"/>
              <a:t>추천 조치</a:t>
            </a:r>
          </a:p>
          <a:p>
            <a:pPr lvl="0" indent="0">
              <a:buNone/>
            </a:pPr>
            <a:r>
              <a:rPr>
                <a:latin typeface="Courier"/>
              </a:rPr>
              <a:t>1. 민감 정보는 환경변수로 분리
2. .gitignore로 비밀 파일 제외
3. 코드 리뷰 시 민감 정보 재확인
4. 기업용 라이선스 검토</a:t>
            </a:r>
          </a:p>
        </p:txBody>
      </p:sp>
    </p:spTree>
  </p:cSld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Q7: AI 생성 코드의 저작권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저작권 현황 (2024년 기준)</a:t>
            </a:r>
          </a:p>
          <a:p>
            <a:pPr lvl="0" indent="0" marL="0">
              <a:buNone/>
            </a:pPr>
            <a:r>
              <a:rPr b="1"/>
              <a:t>대부분의 도구 정책</a:t>
            </a:r>
            <a:r>
              <a:rPr/>
              <a:t>: - 사용자가 생성된 코드의 소유권을 가짐 - AI는 도구일 뿐, 저작자가 아님 - 상업적 사용 가능</a:t>
            </a:r>
          </a:p>
          <a:p>
            <a:pPr lvl="0" indent="0" marL="0">
              <a:buNone/>
            </a:pPr>
            <a:r>
              <a:rPr b="1"/>
              <a:t>주의사항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⚠️ 확인 필요:
- 각 도구의 이용 약관 확인
- 오픈소스 라이선스 준수
- 제3자 코드 사용 여부</a:t>
            </a:r>
          </a:p>
        </p:txBody>
      </p:sp>
    </p:spTree>
  </p:cSld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학습 및 실무 적용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Q8: AI 도구 사용으로 개발 실력이 떨어지지 않을까요?</a:t>
            </a:r>
          </a:p>
          <a:p>
            <a:pPr lvl="0" indent="0" marL="0">
              <a:buNone/>
            </a:pPr>
            <a:r>
              <a:rPr b="1"/>
              <a:t>올바른 사용 (실력 향상)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✅ AI 코드를 학습 자료로 활용
✅ 생성된 코드를 분석하고 이해
✅ 다양한 구현 방법 비교
✅ 베스트 프랙티스 학습</a:t>
            </a:r>
          </a:p>
          <a:p>
            <a:pPr lvl="0" indent="0" marL="0">
              <a:buNone/>
            </a:pPr>
            <a:r>
              <a:rPr b="1"/>
              <a:t>잘못된 사용 (실력 저하 위험)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❌ AI에게 모든 것을 맡김
❌ 생성된 코드를 이해하지 않고 사용
❌ 기본 개념 학습 생략
❌ 디버깅 능력 상실</a:t>
            </a:r>
          </a:p>
        </p:txBody>
      </p:sp>
    </p:spTree>
  </p:cSld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Q8: 역량 변화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기존 역량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새로운 역량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코드 타이핑 속도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문제 정의 능력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문법 암기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요구사항 분석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보일러플레이트 작성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아키텍처 설계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반복 작업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코드 리뷰 및 검증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Q9: 팀 전체 도입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1: 파일럿 프로그램 (2주)</a:t>
            </a:r>
          </a:p>
          <a:p>
            <a:pPr lvl="0" indent="0">
              <a:buNone/>
            </a:pPr>
            <a:r>
              <a:rPr>
                <a:latin typeface="Courier"/>
              </a:rPr>
              <a:t>목표: 효과 검증 및 학습
1. 파일럿 그룹 선정 (2-3명)
   - 오픈 마인드를 가진 개발자
   - 다양한 경력 수준 포함
2. 작은 프로젝트 선택
   - 위험도 낮은 작업
   - 명확한 성공 지표
   - 2주 내 완료 가능
3. 데이터 수집
   - 작업 시간 측정
   - 코드 품질 평가
   - 팀원 만족도 조사</a:t>
            </a:r>
          </a:p>
        </p:txBody>
      </p:sp>
    </p:spTree>
  </p:cSld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Q9: Phase 2-3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2: 확대 적용 (4주)</a:t>
            </a:r>
          </a:p>
          <a:p>
            <a:pPr lvl="0" indent="0">
              <a:buNone/>
            </a:pPr>
            <a:r>
              <a:rPr>
                <a:latin typeface="Courier"/>
              </a:rPr>
              <a:t>1. 성과 공유
   - 파일럿 결과 발표
   - 구체적인 수치 제시
2. 교육 프로그램
   - 기본 사용법 워크샵
   - 베스트 프랙티스 가이드
   - 내부 Q&amp;A 세션
3. 지원 체계
   - Slack 채널 개설
   - 주간 팁 공유
   - 문제 해결 도움</a:t>
            </a:r>
          </a:p>
        </p:txBody>
      </p:sp>
    </p:spTree>
  </p:cSld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Q9: Phase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Phase 3: 표준화 (2개월)</a:t>
            </a:r>
          </a:p>
          <a:p>
            <a:pPr lvl="0" indent="0">
              <a:buNone/>
            </a:pPr>
            <a:r>
              <a:rPr>
                <a:latin typeface="Courier"/>
              </a:rPr>
              <a:t>1. 가이드라인 수립
   - 코드 리뷰 절차
   - 보안 체크리스트
   - 프롬프트 템플릿
2. 측정 및 개선
   - KPI 모니터링
   - 정기 회고
   - 프로세스 개선
3. 문화 정착
   - 성공 사례 축하
   - 지식 공유 문화
   - 지속적 학습</a:t>
            </a:r>
          </a:p>
        </p:txBody>
      </p:sp>
    </p:spTree>
  </p:cSld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Q10: 기존 프로젝트 적용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❌ 피해야 할 상황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- 프로덕션 환경 직접 적용
- 중요 기능의 대규모 리팩토링
- 마감 임박한 프로젝트
- 팀원 모두가 미경험</a:t>
            </a:r>
          </a:p>
          <a:p>
            <a:pPr lvl="0" indent="0" marL="0">
              <a:buNone/>
            </a:pPr>
            <a:r>
              <a:rPr b="1"/>
              <a:t>✅ 안전한 시작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1. 새로운 기능 개발
2. 테스트 코드 작성
3. 문서화 작업
4. 버그 수정 (작은 범위)</a:t>
            </a:r>
          </a:p>
        </p:txBody>
      </p:sp>
    </p:spTree>
  </p:cSld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Q10: 단계별 확대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Week 1-2: 사이드 프로젝트
  → 기본 사용법 익히기
Week 3-4: 개발 환경 작업
  → 테스트, 문서화
Month 2: 새로운 기능
  → 격리된 모듈 개발
Month 3+: 핵심 기능
  → 충분한 경험 축적 후</a:t>
            </a:r>
          </a:p>
        </p:txBody>
      </p:sp>
    </p:spTree>
  </p:cSld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기술적 질문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Q11: 지원하는 언어와 프레임워크</a:t>
            </a:r>
          </a:p>
          <a:p>
            <a:pPr lvl="0" indent="0" marL="0">
              <a:buNone/>
            </a:pPr>
            <a:r>
              <a:rPr b="1"/>
              <a:t>완벽 지원 언어</a:t>
            </a:r>
            <a:r>
              <a:rPr/>
              <a:t>: - JavaScript/TypeScript - Python - Java, C#, Go, Rust - PHP, Ruby</a:t>
            </a:r>
          </a:p>
        </p:txBody>
      </p:sp>
    </p:spTree>
  </p:cSld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Q11: 프레임워크 지원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웹 프론트엔드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✅ React, Next.js
✅ Vue.js, Nuxt
✅ Angular, Svelte</a:t>
            </a:r>
          </a:p>
          <a:p>
            <a:pPr lvl="0" indent="0" marL="0">
              <a:buNone/>
            </a:pPr>
            <a:r>
              <a:rPr b="1"/>
              <a:t>백엔드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✅ Node.js (Express, Nest.js, Fastify)
✅ Python (Django, Flask, FastAPI)
✅ Java (Spring Boot)
✅ Go (Gin, Echo)</a:t>
            </a:r>
          </a:p>
        </p:txBody>
      </p:sp>
    </p:spTree>
  </p:cSld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Q12: 레거시 코드베이스 활용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✅ 효과적인 작업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1. 코드 이해 및 분석
   - 복잡한 로직 설명 요청
   - 의존성 분석
   - 리팩토링 제안
2. 테스트 코드 추가
   - 기존 코드용 테스트 생성
   - 커버리지 향상
3. 문서화
   - 코드 주석 자동 생성
   - API 문서 작성
4. 점진적 개선
   - 작은 단위 리팩토링
   - 타입 추가 (TypeScript 전환)</a:t>
            </a:r>
          </a:p>
        </p:txBody>
      </p:sp>
    </p:spTree>
  </p:cSld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Q12: 성공 사례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시나리오</a:t>
            </a:r>
            <a:r>
              <a:rPr/>
              <a:t>: 10년 된 jQuery 코드를 React로 마이그레이션</a:t>
            </a:r>
          </a:p>
          <a:p>
            <a:pPr lvl="0" indent="0" marL="0">
              <a:buNone/>
            </a:pPr>
            <a:r>
              <a:rPr b="1"/>
              <a:t>전략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Week 1-2: 코드 분석 및 이해
  - AI로 코드 구조 파악
  - 컴포넌트 단위 식별
Week 3-4: 작은 컴포넌트부터 전환
  - 독립적인 UI 요소
  - 충분한 테스트 작성
Month 2-3: 점진적 확대
  - 복잡한 컴포넌트 전환
  - 병렬 실행으로 위험 관리</a:t>
            </a:r>
          </a:p>
          <a:p>
            <a:pPr lvl="0" indent="0" marL="0">
              <a:buNone/>
            </a:pPr>
            <a:r>
              <a:rPr b="1"/>
              <a:t>결과</a:t>
            </a:r>
            <a:r>
              <a:rPr/>
              <a:t>: 6개월 → 2개월 (67% 시간 절감)</a:t>
            </a:r>
          </a:p>
        </p:txBody>
      </p:sp>
    </p:spTree>
  </p:cSld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트러블슈팅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Q13: AI가 잘못된 코드를 생성하면?</a:t>
            </a:r>
          </a:p>
          <a:p>
            <a:pPr lvl="0" indent="0" marL="0">
              <a:buNone/>
            </a:pPr>
            <a:r>
              <a:rPr b="1"/>
              <a:t>즉시 조치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❌ 맹목적 수용
✅ 항상 코드 리뷰
✅ 실행 및 테스트
✅ 이해 안 되면 질문</a:t>
            </a:r>
          </a:p>
          <a:p>
            <a:pPr lvl="0" indent="0" marL="0">
              <a:buNone/>
            </a:pPr>
            <a:r>
              <a:rPr b="1"/>
              <a:t>피드백 제공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"이 코드는 XSS 취약점이 있어.
입력값 검증을 추가해줘."
"이 방식은 O(n²) 복잡도야.
더 효율적인 알고리즘 사용해줘."</a:t>
            </a:r>
          </a:p>
        </p:txBody>
      </p:sp>
    </p:spTree>
  </p:cSld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Q13: Git 안전망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AI 작업 전 커밋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add .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commit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"Before AI changes"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AI 작업 후 문제 발생 시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diff  </a:t>
            </a:r>
            <a:r>
              <a:rPr i="1">
                <a:solidFill>
                  <a:srgbClr val="60A0B0"/>
                </a:solidFill>
                <a:latin typeface="Courier"/>
              </a:rPr>
              <a:t># 변경사항 확인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reset </a:t>
            </a:r>
            <a:r>
              <a:rPr>
                <a:solidFill>
                  <a:srgbClr val="7D9029"/>
                </a:solidFill>
                <a:latin typeface="Courier"/>
              </a:rPr>
              <a:t>--hard</a:t>
            </a:r>
            <a:r>
              <a:rPr>
                <a:latin typeface="Courier"/>
              </a:rPr>
              <a:t> HEAD  </a:t>
            </a:r>
            <a:r>
              <a:rPr i="1">
                <a:solidFill>
                  <a:srgbClr val="60A0B0"/>
                </a:solidFill>
                <a:latin typeface="Courier"/>
              </a:rPr>
              <a:t># 되돌리기</a:t>
            </a:r>
          </a:p>
        </p:txBody>
      </p:sp>
    </p:spTree>
  </p:cSld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Q14: 원하는 결과를 못 얻을 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프롬프트 구성 요소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1. 명확한 목표
   "~를 만들어줘"
2. 기술 스택 명시
   "React와 TypeScript 사용"
3. 구체적 요구사항
   "반응형 디자인"
   "WCAG 접근성 준수"
4. 제약 조건
   "외부 라이브러리 최소화"
5. 예상 결과
   "클릭 시 모달 팝업"</a:t>
            </a:r>
          </a:p>
        </p:txBody>
      </p:sp>
    </p:spTree>
  </p:cSld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Q15: 성능/속도 문제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느린 응답 시간 해결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원인:
- 프로젝트 크기가 매우 큼
- 너무 많은 파일 참조
- 복잡한 요청
해결:
✅ 요청을 작은 단위로 분할
✅ 관련 파일만 컨텍스트에 포함
✅ 점진적 작업 진행</a:t>
            </a:r>
          </a:p>
        </p:txBody>
      </p:sp>
    </p:spTree>
  </p:cSld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핵심 메시지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패러다임의 전환</a:t>
            </a:r>
          </a:p>
          <a:p>
            <a:pPr lvl="0" indent="0">
              <a:buNone/>
            </a:pPr>
            <a:r>
              <a:rPr>
                <a:latin typeface="Courier"/>
              </a:rPr>
              <a:t>기존: "어떻게(How)" 구현할까?
새로운: "무엇을(What)" 만들까?
개발자의 역할 변화:
타이핑 속도 → 문제 정의 능력
코드 암기 → 아키텍처 설계
반복 작업 → 품질 검증</a:t>
            </a:r>
          </a:p>
        </p:txBody>
      </p:sp>
    </p:spTree>
  </p:cSld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성공적인 도입 원칙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점진적 시작</a:t>
            </a:r>
          </a:p>
          <a:p>
            <a:pPr lvl="0" indent="0">
              <a:buNone/>
            </a:pPr>
            <a:r>
              <a:rPr>
                <a:latin typeface="Courier"/>
              </a:rPr>
              <a:t>Day 1: 간단한 컴포넌트 생성
Week 1: 작은 기능 구현
Month 1: 실제 프로젝트 적용
Month 3: 팀 전체 확대</a:t>
            </a:r>
          </a:p>
          <a:p>
            <a:pPr lvl="0" indent="0" marL="0">
              <a:buNone/>
            </a:pPr>
            <a:r>
              <a:rPr b="1"/>
              <a:t>2. 검증 문화</a:t>
            </a:r>
          </a:p>
          <a:p>
            <a:pPr lvl="0" indent="0">
              <a:buNone/>
            </a:pPr>
            <a:r>
              <a:rPr>
                <a:latin typeface="Courier"/>
              </a:rPr>
              <a:t>AI 생성 → 개발자 리뷰 → 테스트 → 배포</a:t>
            </a:r>
          </a:p>
        </p:txBody>
      </p:sp>
    </p:spTree>
  </p:cSld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측정 가능한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1개월 후</a:t>
            </a:r>
            <a:r>
              <a:rPr/>
              <a:t>: - [ ] 기본 기능 숙달 - [ ] 생산성 20% 향상 - [ ] 작업 시간 단축 체감</a:t>
            </a:r>
          </a:p>
          <a:p>
            <a:pPr lvl="0" indent="0" marL="0">
              <a:buNone/>
            </a:pPr>
            <a:r>
              <a:rPr b="1"/>
              <a:t>3개월 후</a:t>
            </a:r>
            <a:r>
              <a:rPr/>
              <a:t>: - [ ] 고급 기능 활용 - [ ] 생산성 40% 향상 - [ ] 팀원 1명 이상 동참</a:t>
            </a:r>
          </a:p>
          <a:p>
            <a:pPr lvl="0" indent="0" marL="0">
              <a:buNone/>
            </a:pPr>
            <a:r>
              <a:rPr b="1"/>
              <a:t>6개월 후</a:t>
            </a:r>
            <a:r>
              <a:rPr/>
              <a:t>: - [ ] 워크플로우 최적화 - [ ] 생산성 50%+ 향상 - [ ] ROI 명확히 입증</a:t>
            </a:r>
          </a:p>
        </p:txBody>
      </p:sp>
    </p:spTree>
  </p:cSld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학습 리소스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공식 문서</a:t>
            </a:r>
            <a:r>
              <a:rPr/>
              <a:t>: - Cursor: cursor.sh/docs - Claude Code: claude.ai/code - Cline: github.com/cline/cline</a:t>
            </a:r>
          </a:p>
          <a:p>
            <a:pPr lvl="0" indent="0" marL="0">
              <a:buNone/>
            </a:pPr>
            <a:r>
              <a:rPr b="1"/>
              <a:t>커뮤니티</a:t>
            </a:r>
            <a:r>
              <a:rPr/>
              <a:t>: - Discord 서버 - Reddit: r/ai_coding - Twitter: #VibeCoding</a:t>
            </a:r>
          </a:p>
        </p:txBody>
      </p:sp>
    </p:spTree>
  </p:cSld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단계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지금 바로 시작하기</a:t>
            </a:r>
          </a:p>
          <a:p>
            <a:pPr lvl="0" indent="0" marL="0">
              <a:buNone/>
            </a:pPr>
            <a:r>
              <a:rPr b="1"/>
              <a:t>오늘 할 수 있는 일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1. 도구 선택 (Cursor 추천)
2. 계정 생성 및 설치
3. 첫 번째 프롬프트 실행
4. "Hello World" 생성해보기</a:t>
            </a:r>
          </a:p>
          <a:p>
            <a:pPr lvl="0" indent="0" marL="0">
              <a:buNone/>
            </a:pPr>
            <a:r>
              <a:rPr b="1"/>
              <a:t>이번 주 계획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1. 기본 기능 익히기
2. 간단한 컴포넌트 만들기
3. 코드 리뷰 습관 들이기
4. 성공 경험 기록하기</a:t>
            </a:r>
          </a:p>
        </p:txBody>
      </p:sp>
    </p:spTree>
  </p:cSld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마무리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바이브 코딩은 단순한 도구 사용법이 아니라, </a:t>
            </a:r>
            <a:r>
              <a:rPr b="1"/>
              <a:t>개발 방식의 근본적인 변화</a:t>
            </a:r>
            <a:r>
              <a:rPr/>
              <a:t>입니다.</a:t>
            </a:r>
          </a:p>
          <a:p>
            <a:pPr lvl="0" indent="0" marL="0">
              <a:buNone/>
            </a:pPr>
            <a:r>
              <a:rPr b="1"/>
              <a:t>핵심은</a:t>
            </a:r>
            <a:r>
              <a:rPr/>
              <a:t>: - 올바른 도구 선택 - 점진적인 학습 - 지속적인 검증 - 팀과의 협력</a:t>
            </a:r>
          </a:p>
        </p:txBody>
      </p:sp>
    </p:spTree>
  </p:cSld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마무리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시작이 반</a:t>
            </a:r>
            <a:r>
              <a:rPr/>
              <a:t>입니다.</a:t>
            </a:r>
          </a:p>
          <a:p>
            <a:pPr lvl="0" indent="0" marL="0">
              <a:buNone/>
            </a:pPr>
            <a:r>
              <a:rPr/>
              <a:t>오늘 바로 첫 걸음을 내딛어 보세요.</a:t>
            </a:r>
          </a:p>
          <a:p>
            <a:pPr lvl="0" indent="0" marL="0">
              <a:buNone/>
            </a:pPr>
            <a:r>
              <a:rPr b="1"/>
              <a:t>“The best time to start was yesterday. The next best time is now.”</a:t>
            </a:r>
          </a:p>
        </p:txBody>
      </p:sp>
    </p:spTree>
  </p:cSld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감사합니다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질문이 있으시면 언제든지 환영합니다!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2025-11-16T04:49:33Z</dcterms:created>
  <dcterms:modified xsi:type="dcterms:W3CDTF">2025-11-16T04:49:33Z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