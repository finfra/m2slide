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3" Type="http://schemas.openxmlformats.org/officeDocument/2006/relationships/viewProps" Target="viewProps.xml" /><Relationship Id="rId3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5" Type="http://schemas.openxmlformats.org/officeDocument/2006/relationships/tableStyles" Target="tableStyles.xml" /><Relationship Id="rId3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6. 실전 사례: 세대별 활용법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1세대 (IDE 기반) 활용 사례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사례 1: React Todo 앱 개발 (Cursor)</a:t>
            </a:r>
          </a:p>
          <a:p>
            <a:pPr lvl="0" indent="0" marL="0">
              <a:buNone/>
            </a:pPr>
            <a:r>
              <a:rPr b="1"/>
              <a:t>시나리오</a:t>
            </a:r>
            <a:r>
              <a:rPr/>
              <a:t>: React와 TypeScript로 간단한 Todo 앱 만들기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사례 1: React Todo 앱 (계속)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작업 과정</a:t>
            </a:r>
          </a:p>
          <a:p>
            <a:pPr lvl="0" indent="0">
              <a:buNone/>
            </a:pPr>
            <a:r>
              <a:rPr>
                <a:latin typeface="Courier"/>
              </a:rPr>
              <a:t>1. Cursor에서 새 프로젝트 생성
2. Cmd+K 누르고 요청:
   "React와 TypeScript로 Todo 앱 만들어줘.
    - 할 일 추가, 삭제, 완료 표시
    - localStorage에 저장
    - Tailwind CSS로 스타일링"
3. AI가 자동 생성:
   - App.tsx, TodoItem.tsx
   - types/Todo.ts, hooks/useTodos.ts
4. diff 모드로 확인 후 승인
5. npm start로 즉시 실행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사례 1: 성과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결과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소요 시간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약 5분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기존 방식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약 30-40분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생산성 향상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6-8배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장점</a:t>
            </a:r>
            <a:r>
              <a:rPr/>
              <a:t> - 실시간 UI 프리뷰 - 컴포넌트 구조 시각적 확인 - 즉시 브라우저에서 테스트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사례 2: API 통합 (Cline)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시나리오</a:t>
            </a:r>
            <a:r>
              <a:rPr/>
              <a:t>: 기존 React 앱에 REST API 연동 추가</a:t>
            </a:r>
          </a:p>
          <a:p>
            <a:pPr lvl="0" indent="0" marL="0">
              <a:buNone/>
            </a:pPr>
            <a:r>
              <a:rPr b="1"/>
              <a:t>작업 과정</a:t>
            </a:r>
          </a:p>
          <a:p>
            <a:pPr lvl="0" indent="0">
              <a:buNone/>
            </a:pPr>
            <a:r>
              <a:rPr>
                <a:latin typeface="Courier"/>
              </a:rPr>
              <a:t>1. Cline 채팅 패널에서 요청:
   "GitHub API를 사용해서 사용자 저장소 목록 가져오기.
    - axios 사용
    - React Query로 캐싱
    - 로딩 및 에러 상태 처리"
2. AI가 자동 작업:
   - api/github.ts 생성
   - hooks/useRepositories.ts 생성
   - RepositoryList.tsx 컴포넌트 생성
   - package.json에 의존성 추가 제안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사례 2: 성과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결과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소요 시간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약 7분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기존 방식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약 45-60분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생산성 향상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6-8배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핵심 포인트</a:t>
            </a:r>
            <a:r>
              <a:rPr/>
              <a:t> - API 호출 로직 자동 생성 - 에러 핸들링 자동 구현 - React Query 설정 완료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2세대 (CLI 기반) 활용 사례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사례 1: Express API 서버 (Claude Code)</a:t>
            </a:r>
          </a:p>
          <a:p>
            <a:pPr lvl="0" indent="0" marL="0">
              <a:buNone/>
            </a:pPr>
            <a:r>
              <a:rPr b="1"/>
              <a:t>시나리오</a:t>
            </a:r>
            <a:r>
              <a:rPr/>
              <a:t>: Node.js Express로 RESTful API 서버 개발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사례 1: Express API 서버 (계속)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작업 과정</a:t>
            </a:r>
          </a:p>
          <a:p>
            <a:pPr lvl="0" indent="0">
              <a:buNone/>
            </a:pPr>
            <a:r>
              <a:rPr>
                <a:latin typeface="Courier"/>
              </a:rPr>
              <a:t>$ claude-code</a:t>
            </a:r>
            <a:br/>
            <a:br/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Express로 블로그 API 서버 만들어줘.</a:t>
            </a:r>
            <a:br/>
            <a:r>
              <a:rPr>
                <a:latin typeface="Courier"/>
              </a:rPr>
              <a:t>  - 게시글 CRUD</a:t>
            </a:r>
            <a:br/>
            <a:r>
              <a:rPr>
                <a:latin typeface="Courier"/>
              </a:rPr>
              <a:t>  - 사용자 인증 </a:t>
            </a:r>
            <a:r>
              <a:rPr b="1">
                <a:solidFill>
                  <a:srgbClr val="FF0000"/>
                </a:solidFill>
                <a:latin typeface="Courier"/>
              </a:rPr>
              <a:t>(</a:t>
            </a:r>
            <a:r>
              <a:rPr>
                <a:latin typeface="Courier"/>
              </a:rPr>
              <a:t>JWT</a:t>
            </a:r>
            <a:r>
              <a:rPr b="1">
                <a:solidFill>
                  <a:srgbClr val="007020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- MongoDB 연동</a:t>
            </a:r>
            <a:br/>
            <a:r>
              <a:rPr>
                <a:latin typeface="Courier"/>
              </a:rPr>
              <a:t>  - 입력 검증</a:t>
            </a:r>
            <a:br/>
            <a:r>
              <a:rPr>
                <a:latin typeface="Courier"/>
              </a:rPr>
              <a:t>  - 에러 핸들링 미들웨어</a:t>
            </a:r>
            <a:br/>
            <a:br/>
            <a:r>
              <a:rPr>
                <a:latin typeface="Courier"/>
              </a:rPr>
              <a:t>[Claude가 작업 시작]</a:t>
            </a:r>
            <a:br/>
            <a:r>
              <a:rPr>
                <a:latin typeface="Courier"/>
              </a:rPr>
              <a:t>✓ server.js, routes/posts.js, routes/auth.js</a:t>
            </a:r>
            <a:br/>
            <a:r>
              <a:rPr>
                <a:latin typeface="Courier"/>
              </a:rPr>
              <a:t>✓ middleware/auth.js, models/Post.js, models/User.js</a:t>
            </a:r>
            <a:br/>
            <a:r>
              <a:rPr>
                <a:latin typeface="Courier"/>
              </a:rPr>
              <a:t>✓ .env.example, package.json, README.md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사례 1: Express API 서버 (계속)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테스트 코드도 작성해줘</a:t>
            </a:r>
            <a:br/>
            <a:br/>
            <a:r>
              <a:rPr>
                <a:latin typeface="Courier"/>
              </a:rPr>
              <a:t>✓ __tests__/posts.test.js</a:t>
            </a:r>
            <a:br/>
            <a:r>
              <a:rPr>
                <a:latin typeface="Courier"/>
              </a:rPr>
              <a:t>✓ __tests__/auth.test.js</a:t>
            </a:r>
            <a:br/>
            <a:r>
              <a:rPr>
                <a:latin typeface="Courier"/>
              </a:rPr>
              <a:t>✓ jest.config.js</a:t>
            </a:r>
            <a:br/>
            <a:br/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npm </a:t>
            </a:r>
            <a:r>
              <a:rPr>
                <a:solidFill>
                  <a:srgbClr val="06287E"/>
                </a:solidFill>
                <a:latin typeface="Courier"/>
              </a:rPr>
              <a:t>install</a:t>
            </a:r>
            <a:r>
              <a:rPr>
                <a:latin typeface="Courier"/>
              </a:rPr>
              <a:t> 실행하고 서버 시작해줘</a:t>
            </a:r>
            <a:br/>
            <a:br/>
            <a:r>
              <a:rPr>
                <a:latin typeface="Courier"/>
              </a:rPr>
              <a:t>[npm install 실행]</a:t>
            </a:r>
            <a:br/>
            <a:r>
              <a:rPr>
                <a:latin typeface="Courier"/>
              </a:rPr>
              <a:t>[서버 시작됨]</a:t>
            </a:r>
            <a:br/>
            <a:r>
              <a:rPr>
                <a:latin typeface="Courier"/>
              </a:rPr>
              <a:t>Server running on port 3000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사례 1: 성과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결과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소요 시간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약 10분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기존 방식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약 2-3시간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생산성 향상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12-18배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장점</a:t>
            </a:r>
            <a:r>
              <a:rPr/>
              <a:t> - 멀티파일 자동 생성 - 보일러플레이트 자동 처리 - 테스트 코드까지 완성 - 즉시 실행 가능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사례 2: AWS 인프라 구성 (Gemini CLI)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시나리오</a:t>
            </a:r>
            <a:r>
              <a:rPr/>
              <a:t>: Terraform으로 AWS EC2 + RDS 인프라 구성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사례 2: AWS 인프라 구성 (계속)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작업 과정</a:t>
            </a:r>
          </a:p>
          <a:p>
            <a:pPr lvl="0" indent="0">
              <a:buNone/>
            </a:pPr>
            <a:r>
              <a:rPr>
                <a:latin typeface="Courier"/>
              </a:rPr>
              <a:t>$ gemini-cli</a:t>
            </a:r>
            <a:br/>
            <a:br/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AWS에 프로덕션 환경 인프라 구성해줘:</a:t>
            </a:r>
            <a:br/>
            <a:r>
              <a:rPr>
                <a:latin typeface="Courier"/>
              </a:rPr>
              <a:t>  - VPC, 서브넷, 인터넷 게이트웨이</a:t>
            </a:r>
            <a:br/>
            <a:r>
              <a:rPr>
                <a:latin typeface="Courier"/>
              </a:rPr>
              <a:t>  - EC2 인스턴스 </a:t>
            </a:r>
            <a:r>
              <a:rPr b="1">
                <a:solidFill>
                  <a:srgbClr val="FF0000"/>
                </a:solidFill>
                <a:latin typeface="Courier"/>
              </a:rPr>
              <a:t>(</a:t>
            </a:r>
            <a:r>
              <a:rPr>
                <a:latin typeface="Courier"/>
              </a:rPr>
              <a:t>t3.medium, 2개</a:t>
            </a:r>
            <a:r>
              <a:rPr b="1">
                <a:solidFill>
                  <a:srgbClr val="007020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- RDS PostgreSQL </a:t>
            </a:r>
            <a:r>
              <a:rPr b="1">
                <a:solidFill>
                  <a:srgbClr val="FF0000"/>
                </a:solidFill>
                <a:latin typeface="Courier"/>
              </a:rPr>
              <a:t>(</a:t>
            </a:r>
            <a:r>
              <a:rPr>
                <a:latin typeface="Courier"/>
              </a:rPr>
              <a:t>Multi-AZ</a:t>
            </a:r>
            <a:r>
              <a:rPr b="1">
                <a:solidFill>
                  <a:srgbClr val="007020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- 로드 밸런서, 보안 그룹 설정</a:t>
            </a:r>
            <a:br/>
            <a:r>
              <a:rPr>
                <a:latin typeface="Courier"/>
              </a:rPr>
              <a:t>  - Terraform 코드로 작성</a:t>
            </a:r>
            <a:br/>
            <a:br/>
            <a:r>
              <a:rPr>
                <a:latin typeface="Courier"/>
              </a:rPr>
              <a:t>[Gemini가 Terraform 코드 생성]</a:t>
            </a:r>
            <a:br/>
            <a:r>
              <a:rPr>
                <a:latin typeface="Courier"/>
              </a:rPr>
              <a:t>✓ main.tf, variables.tf, outputs.tf</a:t>
            </a:r>
            <a:br/>
            <a:r>
              <a:rPr>
                <a:latin typeface="Courier"/>
              </a:rPr>
              <a:t>✓ vpc.tf, ec2.tf, rds.tf, security-groups.tf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사례 2: AWS 인프라 구성 (계속)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terraform init하고 plan 보여줘</a:t>
            </a:r>
            <a:br/>
            <a:br/>
            <a:r>
              <a:rPr>
                <a:latin typeface="Courier"/>
              </a:rPr>
              <a:t>[terraform init 실행]</a:t>
            </a:r>
            <a:br/>
            <a:r>
              <a:rPr>
                <a:latin typeface="Courier"/>
              </a:rPr>
              <a:t>[terraform plan 실행 및 결과 표시]</a:t>
            </a:r>
            <a:br/>
            <a:r>
              <a:rPr>
                <a:latin typeface="Courier"/>
              </a:rPr>
              <a:t>Plan: 15 to add, 0 to change, 0 to destroy.</a:t>
            </a:r>
            <a:br/>
            <a:br/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apply해줘</a:t>
            </a:r>
            <a:br/>
            <a:br/>
            <a:r>
              <a:rPr>
                <a:latin typeface="Courier"/>
              </a:rPr>
              <a:t>[terraform apply 실행]</a:t>
            </a:r>
            <a:br/>
            <a:r>
              <a:rPr>
                <a:latin typeface="Courier"/>
              </a:rPr>
              <a:t>Apply complete! Resources: 15 added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사례 2: 성과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결과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소요 시간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약 15분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기존 방식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약 3-4시간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생산성 향상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12-16배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핵심 포인트</a:t>
            </a:r>
            <a:r>
              <a:rPr/>
              <a:t> - 복잡한 인프라 코드 자동 생성 - 베스트 프랙티스 자동 적용 - 즉시 배포 가능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비교: 사용자 인증 기능 추가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1세대 (Cursor) 접근</a:t>
            </a:r>
          </a:p>
          <a:p>
            <a:pPr lvl="0" indent="0">
              <a:buNone/>
            </a:pPr>
            <a:r>
              <a:rPr>
                <a:latin typeface="Courier"/>
              </a:rPr>
              <a:t>1. IDE에서 프로젝트 열기
2. Cmd+K: "JWT 기반 사용자 인증 추가"
3. 시각적으로 변경사항 확인
   - Login.tsx 수정 확인
   - auth.service.ts 생성 확인
4. Accept All
5. 브라우저에서 로그인 폼 확인</a:t>
            </a:r>
          </a:p>
          <a:p>
            <a:pPr lvl="0" indent="0" marL="0">
              <a:buNone/>
            </a:pPr>
            <a:r>
              <a:rPr b="1"/>
              <a:t>적합</a:t>
            </a:r>
            <a:r>
              <a:rPr/>
              <a:t>: 프론트엔드 중심 작업, UI 피드백 필요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비교: 사용자 인증 기능 추가 (계속)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2세대 (Claude Code) 접근</a:t>
            </a:r>
          </a:p>
          <a:p>
            <a:pPr lvl="0" indent="0">
              <a:buNone/>
            </a:pPr>
            <a:r>
              <a:rPr>
                <a:latin typeface="Courier"/>
              </a:rPr>
              <a:t>$ claude-code</a:t>
            </a:r>
            <a:br/>
            <a:br/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사용자 인증 기능 추가해줘:</a:t>
            </a:r>
            <a:br/>
            <a:r>
              <a:rPr>
                <a:latin typeface="Courier"/>
              </a:rPr>
              <a:t>  - JWT 토큰 발급</a:t>
            </a:r>
            <a:br/>
            <a:r>
              <a:rPr>
                <a:latin typeface="Courier"/>
              </a:rPr>
              <a:t>  - Refresh 토큰</a:t>
            </a:r>
            <a:br/>
            <a:r>
              <a:rPr>
                <a:latin typeface="Courier"/>
              </a:rPr>
              <a:t>  - 비밀번호 해싱 </a:t>
            </a:r>
            <a:r>
              <a:rPr b="1">
                <a:solidFill>
                  <a:srgbClr val="FF0000"/>
                </a:solidFill>
                <a:latin typeface="Courier"/>
              </a:rPr>
              <a:t>(</a:t>
            </a:r>
            <a:r>
              <a:rPr>
                <a:latin typeface="Courier"/>
              </a:rPr>
              <a:t>bcrypt</a:t>
            </a:r>
            <a:r>
              <a:rPr b="1">
                <a:solidFill>
                  <a:srgbClr val="007020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- Rate limiting</a:t>
            </a:r>
            <a:br/>
            <a:r>
              <a:rPr>
                <a:latin typeface="Courier"/>
              </a:rPr>
              <a:t>  - 로그인 시도 제한</a:t>
            </a:r>
            <a:br/>
            <a:br/>
            <a:r>
              <a:rPr>
                <a:latin typeface="Courier"/>
              </a:rPr>
              <a:t>[모든 파일 자동 수정 및 생성]</a:t>
            </a:r>
            <a:br/>
            <a:r>
              <a:rPr>
                <a:latin typeface="Courier"/>
              </a:rPr>
              <a:t>[테스트 코드 자동 생성]</a:t>
            </a:r>
            <a:br/>
            <a:r>
              <a:rPr>
                <a:latin typeface="Courier"/>
              </a:rPr>
              <a:t>[npm test 자동 실행]</a:t>
            </a:r>
          </a:p>
          <a:p>
            <a:pPr lvl="0" indent="0" marL="0">
              <a:buNone/>
            </a:pPr>
            <a:r>
              <a:rPr b="1"/>
              <a:t>적합</a:t>
            </a:r>
            <a:r>
              <a:rPr/>
              <a:t>: 백엔드 전체 로직, 테스트 자동화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생산성 비교: 블로그 플랫폼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작업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전통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Cursor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Claude Code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프로젝트 설정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30분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3분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데이터 모델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1시간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10분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CRUD API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4시간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1시간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30분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프론트엔드 UI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6시간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2시간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인증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3시간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45분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20분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테스트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4시간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1시간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30분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배포 설정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2시간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1시간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15분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총합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20.5시간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6시간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1.8시간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생산성 향상 분석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Cursor (1세대)</a:t>
            </a:r>
            <a:r>
              <a:rPr/>
              <a:t> - 약 </a:t>
            </a:r>
            <a:r>
              <a:rPr b="1"/>
              <a:t>3.4배</a:t>
            </a:r>
            <a:r>
              <a:rPr/>
              <a:t> 빠름 - 시각적 피드백 장점 - UI 중심 작업에 최적</a:t>
            </a:r>
          </a:p>
          <a:p>
            <a:pPr lvl="0" indent="0" marL="0">
              <a:buNone/>
            </a:pPr>
            <a:r>
              <a:rPr b="1"/>
              <a:t>Claude Code (2세대)</a:t>
            </a:r>
            <a:r>
              <a:rPr/>
              <a:t> - 약 </a:t>
            </a:r>
            <a:r>
              <a:rPr b="1"/>
              <a:t>11.3배</a:t>
            </a:r>
            <a:r>
              <a:rPr/>
              <a:t> 빠름 - 완전 자동화 가능 - 백엔드/인프라에 최적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실전 팁: 1세대 (IDE)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효율적인 프롬프트</a:t>
            </a:r>
          </a:p>
          <a:p>
            <a:pPr lvl="0" indent="0" marL="0">
              <a:buNone/>
            </a:pPr>
            <a:r>
              <a:rPr/>
              <a:t>❌ 나쁜 예: “컴포넌트 만들어줘”</a:t>
            </a:r>
          </a:p>
          <a:p>
            <a:pPr lvl="0" indent="0" marL="0">
              <a:buNone/>
            </a:pPr>
            <a:r>
              <a:rPr/>
              <a:t>✅ 좋은 예:</a:t>
            </a:r>
          </a:p>
          <a:p>
            <a:pPr lvl="0" indent="0">
              <a:buNone/>
            </a:pPr>
            <a:r>
              <a:rPr>
                <a:latin typeface="Courier"/>
              </a:rPr>
              <a:t>"사용자 프로필 카드 컴포넌트 만들어줘.
 - props: name, email, avatar, bio
 - Tailwind CSS 사용
 - 클릭 시 상세 페이지로 이동
 - 반응형 디자인"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실전 팁: 1세대 (계속)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Composer 모드 활용</a:t>
            </a:r>
            <a:r>
              <a:rPr/>
              <a:t> - 여러 파일을 한번에 수정 - </a:t>
            </a:r>
            <a:r>
              <a:rPr>
                <a:latin typeface="Courier"/>
              </a:rPr>
              <a:t>@파일명</a:t>
            </a:r>
            <a:r>
              <a:rPr/>
              <a:t>으로 특정 파일 참조 - 프로젝트 전체 맥락 활용</a:t>
            </a:r>
          </a:p>
          <a:p>
            <a:pPr lvl="0" indent="0" marL="0">
              <a:buNone/>
            </a:pPr>
            <a:r>
              <a:rPr b="1"/>
              <a:t>단축키 마스터</a:t>
            </a:r>
            <a:r>
              <a:rPr/>
              <a:t> - </a:t>
            </a:r>
            <a:r>
              <a:rPr>
                <a:latin typeface="Courier"/>
              </a:rPr>
              <a:t>Cmd/Ctrl + K</a:t>
            </a:r>
            <a:r>
              <a:rPr/>
              <a:t>: 프롬프트 입력 - </a:t>
            </a:r>
            <a:r>
              <a:rPr>
                <a:latin typeface="Courier"/>
              </a:rPr>
              <a:t>Cmd/Ctrl + L</a:t>
            </a:r>
            <a:r>
              <a:rPr/>
              <a:t>: 전체 프로젝트 검색 - </a:t>
            </a:r>
            <a:r>
              <a:rPr>
                <a:latin typeface="Courier"/>
              </a:rPr>
              <a:t>Cmd/Ctrl + Shift + P</a:t>
            </a:r>
            <a:r>
              <a:rPr/>
              <a:t>: 명령 팔레트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실전 팁: 2세대 (CLI)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명확한 작업 단위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작은 단위로 분할</a:t>
            </a:r>
            <a:br/>
            <a:r>
              <a:rPr>
                <a:latin typeface="Courier"/>
              </a:rPr>
              <a:t>❌ </a:t>
            </a:r>
            <a:r>
              <a:rPr>
                <a:solidFill>
                  <a:srgbClr val="4070A0"/>
                </a:solidFill>
                <a:latin typeface="Courier"/>
              </a:rPr>
              <a:t>"전체 애플리케이션 만들어줘"</a:t>
            </a:r>
            <a:br/>
            <a:br/>
            <a:r>
              <a:rPr>
                <a:latin typeface="Courier"/>
              </a:rPr>
              <a:t>✅ </a:t>
            </a:r>
            <a:r>
              <a:rPr>
                <a:solidFill>
                  <a:srgbClr val="4070A0"/>
                </a:solidFill>
                <a:latin typeface="Courier"/>
              </a:rPr>
              <a:t>"먼저 데이터 모델 만들어줘"</a:t>
            </a:r>
            <a:br/>
            <a:r>
              <a:rPr>
                <a:latin typeface="Courier"/>
              </a:rPr>
              <a:t>✅ </a:t>
            </a:r>
            <a:r>
              <a:rPr>
                <a:solidFill>
                  <a:srgbClr val="4070A0"/>
                </a:solidFill>
                <a:latin typeface="Courier"/>
              </a:rPr>
              <a:t>"이제 CRUD API 만들어줘"</a:t>
            </a:r>
            <a:br/>
            <a:r>
              <a:rPr>
                <a:latin typeface="Courier"/>
              </a:rPr>
              <a:t>✅ </a:t>
            </a:r>
            <a:r>
              <a:rPr>
                <a:solidFill>
                  <a:srgbClr val="4070A0"/>
                </a:solidFill>
                <a:latin typeface="Courier"/>
              </a:rPr>
              <a:t>"테스트 코드 추가해줘"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실전 팁: 2세대 (계속)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Git 커밋 자주 하기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AI 작업 후 바로 커밋</a:t>
            </a:r>
            <a:br/>
            <a:r>
              <a:rPr>
                <a:latin typeface="Courier"/>
              </a:rPr>
              <a:t>$ git add .</a:t>
            </a:r>
            <a:br/>
            <a:r>
              <a:rPr>
                <a:latin typeface="Courier"/>
              </a:rPr>
              <a:t>$ git commit </a:t>
            </a:r>
            <a:r>
              <a:rPr>
                <a:solidFill>
                  <a:srgbClr val="7D9029"/>
                </a:solidFill>
                <a:latin typeface="Courier"/>
              </a:rPr>
              <a:t>-m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"feat: Add user authentication"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문제 발생 시 쉽게 롤백</a:t>
            </a:r>
            <a:br/>
            <a:r>
              <a:rPr>
                <a:latin typeface="Courier"/>
              </a:rPr>
              <a:t>$ git reset </a:t>
            </a:r>
            <a:r>
              <a:rPr>
                <a:solidFill>
                  <a:srgbClr val="7D9029"/>
                </a:solidFill>
                <a:latin typeface="Courier"/>
              </a:rPr>
              <a:t>--hard</a:t>
            </a:r>
            <a:r>
              <a:rPr>
                <a:latin typeface="Courier"/>
              </a:rPr>
              <a:t> HEAD^</a:t>
            </a:r>
          </a:p>
          <a:p>
            <a:pPr lvl="0" indent="0" marL="0">
              <a:buNone/>
            </a:pPr>
            <a:r>
              <a:rPr b="1"/>
              <a:t>자동화 스크립트 활용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#!/bin/bash</a:t>
            </a:r>
            <a:br/>
            <a:r>
              <a:rPr>
                <a:latin typeface="Courier"/>
              </a:rPr>
              <a:t>claude-code </a:t>
            </a:r>
            <a:r>
              <a:rPr>
                <a:solidFill>
                  <a:srgbClr val="666666"/>
                </a:solidFill>
                <a:latin typeface="Courier"/>
              </a:rPr>
              <a:t>&lt;&lt; EOF</a:t>
            </a:r>
            <a:br/>
            <a:r>
              <a:rPr>
                <a:solidFill>
                  <a:srgbClr val="4070A0"/>
                </a:solidFill>
                <a:latin typeface="Courier"/>
              </a:rPr>
              <a:t>프로젝트 분석해서 README.md 업데이트해줘</a:t>
            </a:r>
            <a:br/>
            <a:r>
              <a:rPr>
                <a:solidFill>
                  <a:srgbClr val="4070A0"/>
                </a:solidFill>
                <a:latin typeface="Courier"/>
              </a:rPr>
              <a:t>테스트 실행해줘</a:t>
            </a:r>
            <a:br/>
            <a:r>
              <a:rPr>
                <a:solidFill>
                  <a:srgbClr val="4070A0"/>
                </a:solidFill>
                <a:latin typeface="Courier"/>
              </a:rPr>
              <a:t>커버리지 리포트 생성해줘</a:t>
            </a:r>
            <a:br/>
            <a:r>
              <a:rPr>
                <a:solidFill>
                  <a:srgbClr val="666666"/>
                </a:solidFill>
                <a:latin typeface="Courier"/>
              </a:rPr>
              <a:t>EOF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복합 사례: 실시간 채팅 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1단계: 백엔드 (Claude Code) - 10분</a:t>
            </a:r>
          </a:p>
          <a:p>
            <a:pPr lvl="0" indent="0">
              <a:buNone/>
            </a:pP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Socket.IO 기반 채팅 서버 만들어줘:</a:t>
            </a:r>
            <a:br/>
            <a:r>
              <a:rPr>
                <a:latin typeface="Courier"/>
              </a:rPr>
              <a:t>  - 실시간 메시지 전송</a:t>
            </a:r>
            <a:br/>
            <a:r>
              <a:rPr>
                <a:latin typeface="Courier"/>
              </a:rPr>
              <a:t>  - 채팅방 관리</a:t>
            </a:r>
            <a:br/>
            <a:r>
              <a:rPr>
                <a:latin typeface="Courier"/>
              </a:rPr>
              <a:t>  - MongoDB에 메시지 저장</a:t>
            </a:r>
          </a:p>
          <a:p>
            <a:pPr lvl="0" indent="0" marL="0">
              <a:buNone/>
            </a:pPr>
            <a:r>
              <a:rPr b="1"/>
              <a:t>2단계: 프론트엔드 (Cursor) - 15분</a:t>
            </a:r>
          </a:p>
          <a:p>
            <a:pPr lvl="0" indent="0">
              <a:buNone/>
            </a:pPr>
            <a:r>
              <a:rPr>
                <a:latin typeface="Courier"/>
              </a:rPr>
              <a:t>Cmd+K: "Socket.IO 클라이언트로 채팅 UI 만들어줘"</a:t>
            </a:r>
          </a:p>
          <a:p>
            <a:pPr lvl="0" indent="0" marL="0">
              <a:buNone/>
            </a:pPr>
            <a:r>
              <a:rPr b="1"/>
              <a:t>3단계: 배포 (Claude Code) - 10분</a:t>
            </a:r>
          </a:p>
          <a:p>
            <a:pPr lvl="0" indent="0">
              <a:buNone/>
            </a:pP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Docker Compose로 컨테이너화해줘</a:t>
            </a:r>
            <a:br/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AWS ECS 배포 설정해줘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복합 사례: 성과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총 소요 시간</a:t>
            </a:r>
            <a:r>
              <a:rPr/>
              <a:t>: 약 35분 </a:t>
            </a:r>
            <a:r>
              <a:rPr b="1"/>
              <a:t>전통 방식</a:t>
            </a:r>
            <a:r>
              <a:rPr/>
              <a:t>: 약 10-15시간 </a:t>
            </a:r>
            <a:r>
              <a:rPr b="1"/>
              <a:t>생산성 향상</a:t>
            </a:r>
            <a:r>
              <a:rPr/>
              <a:t>: </a:t>
            </a:r>
            <a:r>
              <a:rPr b="1"/>
              <a:t>17-25배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주의사항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보안 체크리스트</a:t>
            </a:r>
            <a:r>
              <a:rPr/>
              <a:t> - SQL Injection 방어 확인 - XSS 방어 확인 - 인증/인가 로직 검증 - 민감 정보 하드코딩 여부 - API 키 노출 여부</a:t>
            </a:r>
          </a:p>
          <a:p>
            <a:pPr lvl="0" indent="0" marL="0">
              <a:buNone/>
            </a:pPr>
            <a:r>
              <a:rPr b="1"/>
              <a:t>품질 체크리스트</a:t>
            </a:r>
            <a:r>
              <a:rPr/>
              <a:t> - 에러 핸들링 적절성 - 테스트 커버리지 - 코드 가독성 - 성능 최적화 여부 - 문서화 완성도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다음 단계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작은 프로젝트부터 시작</a:t>
            </a:r>
            <a:r>
              <a:rPr/>
              <a:t> 1. Todo 앱, 블로그 등 2. 점진적 확대 3. 팀에 공유 4. 베스트 프랙티스 문서화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2025-11-16T04:49:49Z</dcterms:created>
  <dcterms:modified xsi:type="dcterms:W3CDTF">2025-11-16T04:49:49Z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