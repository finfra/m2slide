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2" Type="http://schemas.openxmlformats.org/officeDocument/2006/relationships/viewProps" Target="viewProps.xml" /><Relationship Id="rId3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4" Type="http://schemas.openxmlformats.org/officeDocument/2006/relationships/tableStyles" Target="tableStyles.xml" /><Relationship Id="rId3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7. 바이브 코딩 도입 로드맵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도입 단계별 가이드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1단계</a:t>
            </a:r>
            <a:r>
              <a:rPr/>
              <a:t>: 평가 및 준비 (1-2주) </a:t>
            </a:r>
            <a:r>
              <a:rPr b="1"/>
              <a:t>2단계</a:t>
            </a:r>
            <a:r>
              <a:rPr/>
              <a:t>: 시작하기 (2-4주) </a:t>
            </a:r>
            <a:r>
              <a:rPr b="1"/>
              <a:t>3단계</a:t>
            </a:r>
            <a:r>
              <a:rPr/>
              <a:t>: 숙련도 향상 (1-2개월) </a:t>
            </a:r>
            <a:r>
              <a:rPr b="1"/>
              <a:t>4단계</a:t>
            </a:r>
            <a:r>
              <a:rPr/>
              <a:t>: 고급 활용 (2-3개월)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1단계: 평가 및 준비 (1-2주)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현황 분석 체크리스트</a:t>
            </a:r>
          </a:p>
          <a:p>
            <a:pPr lvl="0" indent="0">
              <a:buNone/>
            </a:pPr>
            <a:r>
              <a:rPr>
                <a:latin typeface="Courier"/>
              </a:rPr>
              <a:t>□ 현재 개발 프로세스 파악
□ 팀원 기술 스택 확인
□ 예산 및 리소스 검토
□ 보안 정책 확인
□ 법적 검토 (필요시)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1단계: 목표 설정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단기 목표 (1-3개월)</a:t>
            </a:r>
            <a:r>
              <a:rPr/>
              <a:t> - 개인 생산성 향상</a:t>
            </a:r>
          </a:p>
          <a:p>
            <a:pPr lvl="0" indent="0" marL="0">
              <a:buNone/>
            </a:pPr>
            <a:r>
              <a:rPr b="1"/>
              <a:t>중기 목표 (3-6개월)</a:t>
            </a:r>
            <a:r>
              <a:rPr/>
              <a:t> - 팀 전체 적용</a:t>
            </a:r>
          </a:p>
          <a:p>
            <a:pPr lvl="0" indent="0" marL="0">
              <a:buNone/>
            </a:pPr>
            <a:r>
              <a:rPr b="1"/>
              <a:t>장기 목표 (6-12개월)</a:t>
            </a:r>
            <a:r>
              <a:rPr/>
              <a:t> - 워크플로우 최적화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1단계: 도구 선택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선택 기준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1세대 추천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2세대 추천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팀 대부분이 초보자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Cursor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CLI 사용 익숙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Claude Code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프론트엔드 중심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Cursor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DevOps/백엔드 중심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Claude Code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제한된 예산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Cline (무료)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2단계: 시작하기 (2-4주)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개인 학습 (Week 1-2)</a:t>
            </a:r>
          </a:p>
          <a:p>
            <a:pPr lvl="0" indent="0" marL="0">
              <a:buNone/>
            </a:pPr>
            <a:r>
              <a:rPr b="1"/>
              <a:t>Day 1-3: 기본 설정</a:t>
            </a:r>
          </a:p>
          <a:p>
            <a:pPr lvl="0" indent="0">
              <a:buNone/>
            </a:pPr>
            <a:r>
              <a:rPr>
                <a:latin typeface="Courier"/>
              </a:rPr>
              <a:t>□ 도구 설치 및 설정
□ API 키 발급
□ 첫 번째 프롬프트 실행
□ 간단한 Hello World 생성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2단계: 기본 기능 익히기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Day 4-7: 기본 기능</a:t>
            </a:r>
          </a:p>
          <a:p>
            <a:pPr lvl="0" indent="0">
              <a:buNone/>
            </a:pPr>
            <a:r>
              <a:rPr>
                <a:latin typeface="Courier"/>
              </a:rPr>
              <a:t>□ 코드 생성 요청 연습
□ 파일 수정 요청
□ 오류 수정 요청
□ Git 통합 사용</a:t>
            </a:r>
          </a:p>
          <a:p>
            <a:pPr lvl="0" indent="0" marL="0">
              <a:buNone/>
            </a:pPr>
            <a:r>
              <a:rPr b="1"/>
              <a:t>Day 8-14: 실전 적용</a:t>
            </a:r>
          </a:p>
          <a:p>
            <a:pPr lvl="0" indent="0">
              <a:buNone/>
            </a:pPr>
            <a:r>
              <a:rPr>
                <a:latin typeface="Courier"/>
              </a:rPr>
              <a:t>□ 사이드 프로젝트에 적용
□ 작은 기능 구현
□ 코드 리뷰 습관 형성
□ 베스트 프랙티스 학습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2단계: 팀 파일럿 (Week 3-4)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파일럿 프로그램</a:t>
            </a:r>
          </a:p>
          <a:p>
            <a:pPr lvl="0" indent="0">
              <a:buNone/>
            </a:pPr>
            <a:r>
              <a:rPr>
                <a:latin typeface="Courier"/>
              </a:rPr>
              <a:t>1. 파일럿 그룹 선정 (2-3명)
2. 작은 프로젝트/기능 선택
3. 1주일 집중 사용
4. 결과 측정 및 공유</a:t>
            </a:r>
          </a:p>
          <a:p>
            <a:pPr lvl="0" indent="0" marL="0">
              <a:buNone/>
            </a:pPr>
            <a:r>
              <a:rPr b="1"/>
              <a:t>측정 지표</a:t>
            </a:r>
            <a:r>
              <a:rPr/>
              <a:t> - 개발 시간 변화 - 코드 품질 변화 - 버그 발생률 - 팀원 만족도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3단계: 숙련도 향상 (1-2개월)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1세대 (IDE) 고급 기법</a:t>
            </a:r>
          </a:p>
          <a:p>
            <a:pPr lvl="0" indent="0">
              <a:buNone/>
            </a:pPr>
            <a:r>
              <a:rPr>
                <a:latin typeface="Courier"/>
              </a:rPr>
              <a:t>□ Composer 모드 마스터
□ @mentions 활용
□ 멀티파일 리팩토링
□ 커스텀 프롬프트 템플릿
□ IDE 단축키 최적화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3단계: 고급 기능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2세대 (CLI) 고급 기법</a:t>
            </a:r>
          </a:p>
          <a:p>
            <a:pPr lvl="0" indent="0">
              <a:buNone/>
            </a:pPr>
            <a:r>
              <a:rPr>
                <a:latin typeface="Courier"/>
              </a:rPr>
              <a:t>□ 복잡한 프롬프트 작성
□ 쉘 스크립트 통합
□ CI/CD 파이프라인 연동
□ 자동화 워크플로우 구축
□ 멀티 프로젝트 관리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3단계: 팀 베스트 프랙티스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가이드라인 수립</a:t>
            </a:r>
          </a:p>
          <a:p>
            <a:pPr lvl="0" indent="0" marL="0">
              <a:buNone/>
            </a:pPr>
            <a:r>
              <a:rPr b="1"/>
              <a:t>프롬프트 작성 규칙</a:t>
            </a:r>
            <a:r>
              <a:rPr/>
              <a:t> - 명확하고 구체적으로 - 기술 스택 명시 - 예상 결과 설명</a:t>
            </a:r>
          </a:p>
          <a:p>
            <a:pPr lvl="0" indent="0" marL="0">
              <a:buNone/>
            </a:pPr>
            <a:r>
              <a:rPr b="1"/>
              <a:t>코드 리뷰 프로세스</a:t>
            </a:r>
            <a:r>
              <a:rPr/>
              <a:t> - AI 생성 코드는 반드시 리뷰 - 보안 체크리스트 적용 - 테스트 코드 필수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3단계: Git 커밋 규칙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AI 작업 후 즉시 커밋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add .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commit </a:t>
            </a:r>
            <a:r>
              <a:rPr>
                <a:solidFill>
                  <a:srgbClr val="7D9029"/>
                </a:solidFill>
                <a:latin typeface="Courier"/>
              </a:rPr>
              <a:t>-m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"AI: 사용자 인증 기능 추가"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커밋 메시지에 "AI:" 접두사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정기적인 푸시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4단계: 고급 활용 (2-3개월)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워크플로우 최적화</a:t>
            </a:r>
          </a:p>
          <a:p>
            <a:pPr lvl="0" indent="0" marL="0">
              <a:buNone/>
            </a:pPr>
            <a:r>
              <a:rPr b="1"/>
              <a:t>자동화 파이프라인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AI-Powered CI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on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[</a:t>
            </a:r>
            <a:r>
              <a:rPr>
                <a:solidFill>
                  <a:srgbClr val="7D9029"/>
                </a:solidFill>
                <a:latin typeface="Courier"/>
              </a:rPr>
              <a:t>push</a:t>
            </a:r>
            <a:r>
              <a:rPr b="1">
                <a:solidFill>
                  <a:srgbClr val="007020"/>
                </a:solidFill>
                <a:latin typeface="Courier"/>
              </a:rPr>
              <a:t>]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jobs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ai-review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runs-on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ubuntu-latest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steps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uses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actions/checkout@v2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AI Code Review</a:t>
            </a:r>
            <a:br/>
            <a:r>
              <a:rPr>
                <a:solidFill>
                  <a:srgbClr val="06287E"/>
                </a:solidFill>
                <a:latin typeface="Courier"/>
              </a:rPr>
              <a:t>        run</a:t>
            </a:r>
            <a:r>
              <a:rPr b="1">
                <a:solidFill>
                  <a:srgbClr val="007020"/>
                </a:solidFill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br/>
            <a:r>
              <a:rPr>
                <a:latin typeface="Courier"/>
              </a:rPr>
              <a:t>          claude-code &lt;&lt; EOF</a:t>
            </a:r>
            <a:br/>
            <a:r>
              <a:rPr>
                <a:latin typeface="Courier"/>
              </a:rPr>
              <a:t>          코드 품질 분석해줘</a:t>
            </a:r>
            <a:br/>
            <a:r>
              <a:rPr>
                <a:latin typeface="Courier"/>
              </a:rPr>
              <a:t>          보안 취약점 찾아줘</a:t>
            </a:r>
            <a:br/>
            <a:r>
              <a:rPr>
                <a:latin typeface="Courier"/>
              </a:rPr>
              <a:t>          테스트 커버리지 확인해줘</a:t>
            </a:r>
            <a:br/>
            <a:r>
              <a:rPr>
                <a:latin typeface="Courier"/>
              </a:rPr>
              <a:t>          EOF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4단계: 팀 협업 패턴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패턴 1: AI 페어 프로그래밍</a:t>
            </a:r>
          </a:p>
          <a:p>
            <a:pPr lvl="0" indent="0">
              <a:buNone/>
            </a:pPr>
            <a:r>
              <a:rPr>
                <a:latin typeface="Courier"/>
              </a:rPr>
              <a:t>주니어 개발자 + Claude Code
  ↓
시니어 개발자 리뷰
  ↓
배포</a:t>
            </a:r>
          </a:p>
          <a:p>
            <a:pPr lvl="0" indent="0" marL="0">
              <a:buNone/>
            </a:pPr>
            <a:r>
              <a:rPr b="1"/>
              <a:t>패턴 2: AI 코드 리뷰</a:t>
            </a:r>
          </a:p>
          <a:p>
            <a:pPr lvl="0" indent="0">
              <a:buNone/>
            </a:pPr>
            <a:r>
              <a:rPr>
                <a:latin typeface="Courier"/>
              </a:rPr>
              <a:t>개발자 코드 작성
  ↓
AI 1차 리뷰 (Claude Code)
  ↓
동료 2차 리뷰
  ↓
배포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4단계: 협업 패턴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패턴 3: AI 테스트 생성</a:t>
            </a:r>
          </a:p>
          <a:p>
            <a:pPr lvl="0" indent="0">
              <a:buNone/>
            </a:pPr>
            <a:r>
              <a:rPr>
                <a:latin typeface="Courier"/>
              </a:rPr>
              <a:t>개발자 기능 구현
  ↓
AI 테스트 코드 자동 생성
  ↓
개발자 테스트 검증
  ↓
배포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개인 개발자 도입 전략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추천 경로</a:t>
            </a:r>
          </a:p>
          <a:p>
            <a:pPr lvl="0" indent="0">
              <a:buNone/>
            </a:pPr>
            <a:r>
              <a:rPr>
                <a:latin typeface="Courier"/>
              </a:rPr>
              <a:t>Week 1-2: Cursor로 시작
  - 간단한 프로젝트
  - 기본 기능 학습
Week 3-4: 프로젝트 적용
  - 실제 작업에 사용
  - 생산성 측정
Month 2: 고급 기능
  - Composer 모드
  - 복잡한 리팩토링
Month 3: CLI 도전
  - Claude Code 시도
  - 자동화 구축</a:t>
            </a:r>
          </a:p>
          <a:p>
            <a:pPr lvl="0" indent="0" marL="0">
              <a:buNone/>
            </a:pPr>
            <a:r>
              <a:rPr b="1"/>
              <a:t>예산</a:t>
            </a:r>
            <a:r>
              <a:rPr/>
              <a:t>: $20/월 </a:t>
            </a:r>
            <a:r>
              <a:rPr b="1"/>
              <a:t>예상 ROI</a:t>
            </a:r>
            <a:r>
              <a:rPr/>
              <a:t>: 첫 달부터 시간 절약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소규모 팀 (2-5명) 도입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Phase 1: 파일럿 (2주)</a:t>
            </a:r>
          </a:p>
          <a:p>
            <a:pPr lvl="0" indent="0">
              <a:buNone/>
            </a:pPr>
            <a:r>
              <a:rPr>
                <a:latin typeface="Courier"/>
              </a:rPr>
              <a:t>- 1-2명 선발
- Cursor로 시작
- 작은 기능 구현
- 성과 측정</a:t>
            </a:r>
          </a:p>
          <a:p>
            <a:pPr lvl="0" indent="0" marL="0">
              <a:buNone/>
            </a:pPr>
            <a:r>
              <a:rPr b="1"/>
              <a:t>Phase 2: 확대 (4주)</a:t>
            </a:r>
          </a:p>
          <a:p>
            <a:pPr lvl="0" indent="0">
              <a:buNone/>
            </a:pPr>
            <a:r>
              <a:rPr>
                <a:latin typeface="Courier"/>
              </a:rPr>
              <a:t>- 전체 팀 적용
- 내부 가이드 작성
- 주간 공유 세션
- 문제 해결 협력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소규모 팀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Phase 3: 최적화 (2개월)</a:t>
            </a:r>
          </a:p>
          <a:p>
            <a:pPr lvl="0" indent="0">
              <a:buNone/>
            </a:pPr>
            <a:r>
              <a:rPr>
                <a:latin typeface="Courier"/>
              </a:rPr>
              <a:t>- 팀 워크플로우 정립
- 베스트 프랙티스 문서화
- CLI 도구 도입 검토
- 자동화 구축</a:t>
            </a:r>
          </a:p>
          <a:p>
            <a:pPr lvl="0" indent="0" marL="0">
              <a:buNone/>
            </a:pPr>
            <a:r>
              <a:rPr b="1"/>
              <a:t>예산</a:t>
            </a:r>
            <a:r>
              <a:rPr/>
              <a:t>: $20/월 × 5명 = $100/월 </a:t>
            </a:r>
            <a:r>
              <a:rPr b="1"/>
              <a:t>예상 ROI</a:t>
            </a:r>
            <a:r>
              <a:rPr/>
              <a:t>: 2-3개월 내 회수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중형 팀 (6-20명) 도입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Q1: 파일럿 프로그램</a:t>
            </a:r>
          </a:p>
          <a:p>
            <a:pPr lvl="0" indent="0">
              <a:buNone/>
            </a:pPr>
            <a:r>
              <a:rPr>
                <a:latin typeface="Courier"/>
              </a:rPr>
              <a:t>- 부서별 1-2명 선발 (총 3-5명)
- 2개월 집중 사용
- 상세 데이터 수집
- 성과 발표</a:t>
            </a:r>
          </a:p>
          <a:p>
            <a:pPr lvl="0" indent="0" marL="0">
              <a:buNone/>
            </a:pPr>
            <a:r>
              <a:rPr b="1"/>
              <a:t>Q2: 부서별 확대</a:t>
            </a:r>
          </a:p>
          <a:p>
            <a:pPr lvl="0" indent="0">
              <a:buNone/>
            </a:pPr>
            <a:r>
              <a:rPr>
                <a:latin typeface="Courier"/>
              </a:rPr>
              <a:t>- 각 부서 50% 도입
- 부서별 챔피언 지정
- 내부 교육 프로그램
- Slack 채널 운영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중형 팀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Q3: 전사 확대</a:t>
            </a:r>
          </a:p>
          <a:p>
            <a:pPr lvl="0" indent="0">
              <a:buNone/>
            </a:pPr>
            <a:r>
              <a:rPr>
                <a:latin typeface="Courier"/>
              </a:rPr>
              <a:t>- 전체 개발팀 적용
- 공식 가이드라인 수립
- 라이선스 협상
- KPI 모니터링</a:t>
            </a:r>
          </a:p>
          <a:p>
            <a:pPr lvl="0" indent="0" marL="0">
              <a:buNone/>
            </a:pPr>
            <a:r>
              <a:rPr b="1"/>
              <a:t>Q4: 고도화</a:t>
            </a:r>
          </a:p>
          <a:p>
            <a:pPr lvl="0" indent="0">
              <a:buNone/>
            </a:pPr>
            <a:r>
              <a:rPr>
                <a:latin typeface="Courier"/>
              </a:rPr>
              <a:t>- CI/CD 통합
- 자동화 파이프라인
- 커스텀 워크플로우
- 지속적 개선</a:t>
            </a:r>
          </a:p>
          <a:p>
            <a:pPr lvl="0" indent="0" marL="0">
              <a:buNone/>
            </a:pPr>
            <a:r>
              <a:rPr b="1"/>
              <a:t>예산</a:t>
            </a:r>
            <a:r>
              <a:rPr/>
              <a:t>: $20/월 × 20명 = $400/월 </a:t>
            </a:r>
            <a:r>
              <a:rPr b="1"/>
              <a:t>협상 팁</a:t>
            </a:r>
            <a:r>
              <a:rPr/>
              <a:t>: 10명 이상은 단체 할인 문의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대규모 조직 (20명+) 도입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준비 단계 (1-2개월)</a:t>
            </a:r>
          </a:p>
          <a:p>
            <a:pPr lvl="0" indent="0">
              <a:buNone/>
            </a:pPr>
            <a:r>
              <a:rPr>
                <a:latin typeface="Courier"/>
              </a:rPr>
              <a:t>□ 경영진 승인
□ 법무/보안 검토
□ 예산 확보
□ 전담 TF 구성
□ 벤더 협상</a:t>
            </a:r>
          </a:p>
          <a:p>
            <a:pPr lvl="0" indent="0" marL="0">
              <a:buNone/>
            </a:pPr>
            <a:r>
              <a:rPr b="1"/>
              <a:t>파일럿 (3개월)</a:t>
            </a:r>
          </a:p>
          <a:p>
            <a:pPr lvl="0" indent="0">
              <a:buNone/>
            </a:pPr>
            <a:r>
              <a:rPr>
                <a:latin typeface="Courier"/>
              </a:rPr>
              <a:t>□ 3개 팀 선정
□ 각 팀 다른 도구 테스트
□ 상세 데이터 수집
□ ROI 분석
□ 보안 감사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대규모 조직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확대 (6개월)</a:t>
            </a:r>
          </a:p>
          <a:p>
            <a:pPr lvl="0" indent="0">
              <a:buNone/>
            </a:pPr>
            <a:r>
              <a:rPr>
                <a:latin typeface="Courier"/>
              </a:rPr>
              <a:t>□ 우선순위 부서부터
□ 단계적 롤아웃
□ 전담 교육팀 운영
□ 내부 지원 체계
□ 정기 피드백</a:t>
            </a:r>
          </a:p>
          <a:p>
            <a:pPr lvl="0" indent="0" marL="0">
              <a:buNone/>
            </a:pPr>
            <a:r>
              <a:rPr b="1"/>
              <a:t>안정화 (6-12개월)</a:t>
            </a:r>
          </a:p>
          <a:p>
            <a:pPr lvl="0" indent="0">
              <a:buNone/>
            </a:pPr>
            <a:r>
              <a:rPr>
                <a:latin typeface="Courier"/>
              </a:rPr>
              <a:t>□ 전사 표준화
□ 자동화 고도화
□ 성과 측정 체계
□ 지속적 개선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주의사항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피해야 할 것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맹신하지 않기</a:t>
            </a:r>
            <a:r>
              <a:rPr/>
              <a:t> - AI 코드를 무조건 신뢰하지 말 것 - 항상 코드 리뷰 필수 - 보안 취약점 수동 검증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과도한 의존</a:t>
            </a:r>
            <a:r>
              <a:rPr/>
              <a:t> - 기본 코딩 스킬 유지 - 알고리즘 이해도 중요 - 문제 해결 능력 계속 연마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주의사항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❌ </a:t>
            </a:r>
            <a:r>
              <a:rPr b="1"/>
              <a:t>민감 정보 공유</a:t>
            </a:r>
            <a:r>
              <a:rPr/>
              <a:t> - API 키, 비밀번호 절대 입력 금지 - 고객 데이터 공유 금지 - 회사 내부 정보 주의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한 번에 너무 많이</a:t>
            </a:r>
            <a:r>
              <a:rPr/>
              <a:t> - 점진적 도입이 핵심 - 작은 성공부터 쌓기 - 팀원 속도 맞추기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권장사항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 </a:t>
            </a:r>
            <a:r>
              <a:rPr b="1"/>
              <a:t>코드 리뷰 문화</a:t>
            </a:r>
            <a:r>
              <a:rPr/>
              <a:t> - 모든 AI 생성 코드 리뷰 - 페어 프로그래밍 활용 - 정기적인 품질 검토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지속적 학습</a:t>
            </a:r>
            <a:r>
              <a:rPr/>
              <a:t> - 최신 도구 동향 파악 - 새로운 기법 실험 - 팀 내 지식 공유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권장사항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 </a:t>
            </a:r>
            <a:r>
              <a:rPr b="1"/>
              <a:t>데이터 기반 의사결정</a:t>
            </a:r>
            <a:r>
              <a:rPr/>
              <a:t> - 생산성 지표 측정 - 정기적인 회고 - 개선 사항 문서화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보안 우선</a:t>
            </a:r>
            <a:r>
              <a:rPr/>
              <a:t> - 정기 보안 감사 - 민감 정보 보호 규칙 - 접근 권한 관리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성공 체크리스트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1개월 후</a:t>
            </a:r>
            <a:r>
              <a:rPr/>
              <a:t> - [ ] 기본 기능 숙달 - [ ] 실제 프로젝트 적용 - [ ] 생산성 20% 향상 - [ ] 팀원 1명 이상 동참</a:t>
            </a:r>
          </a:p>
          <a:p>
            <a:pPr lvl="0" indent="0" marL="0">
              <a:buNone/>
            </a:pPr>
            <a:r>
              <a:rPr b="1"/>
              <a:t>3개월 후</a:t>
            </a:r>
            <a:r>
              <a:rPr/>
              <a:t> - [ ] 고급 기능 활용 - [ ] 생산성 40% 향상 - [ ] 팀 워크플로우 정립 - [ ] 베스트 프랙티스 문서화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성공 체크리스트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6개월 후</a:t>
            </a:r>
            <a:r>
              <a:rPr/>
              <a:t> - [ ] 전체 팀 적용 - [ ] 자동화 파이프라인 구축 - [ ] 생산성 50%+ 향상 - [ ] ROI 명확히 입증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다음 단계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지금 바로 시작</a:t>
            </a:r>
            <a:r>
              <a:rPr/>
              <a:t> 1. 오늘부터 작은 프로젝트에 적용 2. 팀과 공유: 성공 경험 공유하여 동기 부여 3. 지속적 개선: 계속해서 새로운 방법 탐색 4. 커뮤니티 참여: 다른 개발자들과 경험 교류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2025-11-16T04:49:49Z</dcterms:created>
  <dcterms:modified xsi:type="dcterms:W3CDTF">2025-11-16T04:49:49Z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