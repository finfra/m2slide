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1" Type="http://schemas.openxmlformats.org/officeDocument/2006/relationships/viewProps" Target="viewProps.xml" /><Relationship Id="rId4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3" Type="http://schemas.openxmlformats.org/officeDocument/2006/relationships/tableStyles" Target="tableStyles.xml" /><Relationship Id="rId4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8. 자주 묻는 질문 (Q&amp;A)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도구 선택 관련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Q1: 처음 시작하는 개발자에게 어떤 도구를 추천하나요?</a:t>
            </a:r>
          </a:p>
          <a:p>
            <a:pPr lvl="0" indent="0" marL="0">
              <a:buNone/>
            </a:pPr>
            <a:r>
              <a:rPr b="1"/>
              <a:t>추천</a:t>
            </a:r>
            <a:r>
              <a:rPr/>
              <a:t>: 1세대 (Cursor)</a:t>
            </a:r>
          </a:p>
          <a:p>
            <a:pPr lvl="0" indent="0" marL="0">
              <a:buNone/>
            </a:pPr>
            <a:r>
              <a:rPr b="1"/>
              <a:t>이유</a:t>
            </a:r>
            <a:r>
              <a:rPr/>
              <a:t>: - GUI 환경이 직관적하고 학습 곡선이 낮음 - 시각적 피드백으로 변경사항을 즉시 확인 가능 - VSCode와 유사한 인터페이스로 친숙함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Q1: 학습 경로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Week 1-2</a:t>
            </a:r>
            <a:r>
              <a:rPr/>
              <a:t>: Cursor 기본 기능 익히기 - Cmd/Ctrl + K로 간단한 요청 - diff 모드로 변경사항 확인 - 작은 컴포넌트 생성 연습</a:t>
            </a:r>
          </a:p>
          <a:p>
            <a:pPr lvl="0" indent="0" marL="0">
              <a:buNone/>
            </a:pPr>
            <a:r>
              <a:rPr b="1"/>
              <a:t>Week 3-4</a:t>
            </a:r>
            <a:r>
              <a:rPr/>
              <a:t>: 실전 프로젝트 적용 - 사이드 프로젝트에 활용 - 코드 리뷰 습관 형성 - 베스트 프랙티스 학습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Q2: Cursor와 Claude Code 중 선택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비교 기준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Cursor 추천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Claude Code 추천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터미널 경험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없음/초보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능숙함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주요 작업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프론트엔드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백엔드/인프라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프로젝트 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1-2개 집중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다중 프로젝트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로컬 리소스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충분 (8GB+)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제한적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자동화 필요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낮음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높음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Q2: 권장사항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두 도구를 모두 사용하는 것도 좋은 전략</a:t>
            </a:r>
          </a:p>
          <a:p>
            <a:pPr lvl="0" indent="0">
              <a:buNone/>
            </a:pPr>
            <a:r>
              <a:rPr>
                <a:latin typeface="Courier"/>
              </a:rPr>
              <a:t>프론트엔드 작업: Cursor (UI 프리뷰 필요)
백엔드/인프라: Claude Code (자동화 효율적)
테스트/배포: Claude Code (스크립트 자동화)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Q3: 무료로 시작할 수 있는 도구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무료 옵션</a:t>
            </a:r>
          </a:p>
          <a:p>
            <a:pPr lvl="0" indent="0" marL="0">
              <a:buNone/>
            </a:pPr>
            <a:r>
              <a:rPr b="1"/>
              <a:t>Cline (VSCode 확장)</a:t>
            </a:r>
            <a:r>
              <a:rPr/>
              <a:t> - 완전 무료 오픈소스 - 다양한 LLM 모델 선택 가능 - 자체 API 키 사용 시 비용만 지불</a:t>
            </a:r>
          </a:p>
          <a:p>
            <a:pPr lvl="0" indent="0" marL="0">
              <a:buNone/>
            </a:pPr>
            <a:r>
              <a:rPr b="1"/>
              <a:t>ChatGPT 무료 버전</a:t>
            </a:r>
            <a:r>
              <a:rPr/>
              <a:t> - 기본적인 코드 생성 가능 - 복사-붙여넣기 방식 - 제한적이지만 학습용으로 적합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Q3: 추천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1단계: ChatGPT 무료 버전으로 개념 이해
2단계: Cline으로 IDE 통합 경험
3단계: 생산성 확인 후 유료 도구 선택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비용 및 ROI 관련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Q4: 월 $20가 비싸지 않나요?</a:t>
            </a:r>
          </a:p>
          <a:p>
            <a:pPr lvl="0" indent="0" marL="0">
              <a:buNone/>
            </a:pPr>
            <a:r>
              <a:rPr b="1"/>
              <a:t>ROI 분석 (중급 개발자 기준)</a:t>
            </a:r>
          </a:p>
          <a:p>
            <a:pPr lvl="0" indent="0">
              <a:buNone/>
            </a:pPr>
            <a:r>
              <a:rPr>
                <a:latin typeface="Courier"/>
              </a:rPr>
              <a:t>시간 절감: 주 15시간 (월 60시간)
개발자 시급: $50 (평균)
절감 비용: 60시간 × $50 = $3,000/월
도구 비용: $20/월
순이익: $2,980/월
ROI: 14,900%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Q4: 실제 사례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작업 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기존 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도구 사용 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절감률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CRUD API 구현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87.5%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컴포넌트 생성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테스트 작성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버그 수정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75%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결론</a:t>
            </a:r>
            <a:r>
              <a:rPr/>
              <a:t>: 첫 달부터 비용 대비 효과가 압도적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Q5: 회사 단체 도입 시 비용 절감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라이선스 협상 전략</a:t>
            </a:r>
          </a:p>
          <a:p>
            <a:pPr lvl="0" indent="0" marL="0">
              <a:buNone/>
            </a:pPr>
            <a:r>
              <a:rPr b="1"/>
              <a:t>소규모 팀 (5-10명)</a:t>
            </a:r>
            <a:r>
              <a:rPr/>
              <a:t> - 개별 구독으로 시작 - 성과 측정 후 협상 - 예상 비용: $100-200/월</a:t>
            </a:r>
          </a:p>
          <a:p>
            <a:pPr lvl="0" indent="0" marL="0">
              <a:buNone/>
            </a:pPr>
            <a:r>
              <a:rPr b="1"/>
              <a:t>중형 팀 (10-20명)</a:t>
            </a:r>
            <a:r>
              <a:rPr/>
              <a:t> - 단체 할인 문의 (10-15% 할인) - 연간 계약으로 추가 할인 - 예상 비용: $200-350/월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Q5: 협상 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✅ 파일럿 결과 데이터 준비
✅ 생산성 향상 수치 제시
✅ 장기 계약 제안
✅ 경쟁 도구 견적 비교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보안 및 데이터 관련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Q6: 코드를 AI에게 보내도 안전한가요?</a:t>
            </a:r>
          </a:p>
          <a:p>
            <a:pPr lvl="0" indent="0" marL="0">
              <a:buNone/>
            </a:pPr>
            <a:r>
              <a:rPr b="1"/>
              <a:t>안전 사용 원칙</a:t>
            </a:r>
          </a:p>
          <a:p>
            <a:pPr lvl="0" indent="0">
              <a:buNone/>
            </a:pPr>
            <a:r>
              <a:rPr>
                <a:latin typeface="Courier"/>
              </a:rPr>
              <a:t>❌ 절대 공유 금지:
- API 키, 비밀번호
- 고객 개인정보
- 회사 기밀 정보
- 프로덕션 데이터
✅ 안전하게 공유 가능:
- 일반적인 코드 로직
- 공개 라이브러리 사용법
- 알고리즘 구현
- 테스트 코드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Q6: 기업용 솔루션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보안 강화 옵션</a:t>
            </a:r>
            <a:r>
              <a:rPr/>
              <a:t> - </a:t>
            </a:r>
            <a:r>
              <a:rPr b="1"/>
              <a:t>Cursor Business</a:t>
            </a:r>
            <a:r>
              <a:rPr/>
              <a:t>: 데이터 보관 없음 - </a:t>
            </a:r>
            <a:r>
              <a:rPr b="1"/>
              <a:t>Claude Code Enterprise</a:t>
            </a:r>
            <a:r>
              <a:rPr/>
              <a:t>: SOC 2 인증, 데이터 격리 - </a:t>
            </a:r>
            <a:r>
              <a:rPr b="1"/>
              <a:t>자체 호스팅 옵션</a:t>
            </a:r>
            <a:r>
              <a:rPr/>
              <a:t>: 온프레미스 배포 가능</a:t>
            </a:r>
          </a:p>
          <a:p>
            <a:pPr lvl="0" indent="0" marL="0">
              <a:buNone/>
            </a:pPr>
            <a:r>
              <a:rPr b="1"/>
              <a:t>추천 조치</a:t>
            </a:r>
          </a:p>
          <a:p>
            <a:pPr lvl="0" indent="0">
              <a:buNone/>
            </a:pPr>
            <a:r>
              <a:rPr>
                <a:latin typeface="Courier"/>
              </a:rPr>
              <a:t>1. 민감 정보는 환경변수로 분리
2. .gitignore로 비밀 파일 제외
3. 코드 리뷰 시 민감 정보 재확인
4. 기업용 라이선스 검토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Q7: AI 생성 코드의 저작권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저작권 현황 (2024년 기준)</a:t>
            </a:r>
          </a:p>
          <a:p>
            <a:pPr lvl="0" indent="0" marL="0">
              <a:buNone/>
            </a:pPr>
            <a:r>
              <a:rPr b="1"/>
              <a:t>대부분의 도구 정책</a:t>
            </a:r>
            <a:r>
              <a:rPr/>
              <a:t>: - 사용자가 생성된 코드의 소유권을 가짐 - AI는 도구일 뿐, 저작자가 아님 - 상업적 사용 가능</a:t>
            </a:r>
          </a:p>
          <a:p>
            <a:pPr lvl="0" indent="0" marL="0">
              <a:buNone/>
            </a:pPr>
            <a:r>
              <a:rPr b="1"/>
              <a:t>주의사항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⚠️ 확인 필요:
- 각 도구의 이용 약관 확인
- 오픈소스 라이선스 준수
- 제3자 코드 사용 여부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학습 및 실무 적용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Q8: AI 도구 사용으로 개발 실력이 떨어지지 않을까요?</a:t>
            </a:r>
          </a:p>
          <a:p>
            <a:pPr lvl="0" indent="0" marL="0">
              <a:buNone/>
            </a:pPr>
            <a:r>
              <a:rPr b="1"/>
              <a:t>올바른 사용 (실력 향상)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✅ AI 코드를 학습 자료로 활용
✅ 생성된 코드를 분석하고 이해
✅ 다양한 구현 방법 비교
✅ 베스트 프랙티스 학습</a:t>
            </a:r>
          </a:p>
          <a:p>
            <a:pPr lvl="0" indent="0" marL="0">
              <a:buNone/>
            </a:pPr>
            <a:r>
              <a:rPr b="1"/>
              <a:t>잘못된 사용 (실력 저하 위험)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❌ AI에게 모든 것을 맡김
❌ 생성된 코드를 이해하지 않고 사용
❌ 기본 개념 학습 생략
❌ 디버깅 능력 상실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Q8: 역량 변화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기존 역량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새로운 역량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코드 타이핑 속도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문제 정의 능력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문법 암기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요구사항 분석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보일러플레이트 작성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아키텍처 설계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반복 작업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코드 리뷰 및 검증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Q9: 팀 전체 도입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1: 파일럿 프로그램 (2주)</a:t>
            </a:r>
          </a:p>
          <a:p>
            <a:pPr lvl="0" indent="0">
              <a:buNone/>
            </a:pPr>
            <a:r>
              <a:rPr>
                <a:latin typeface="Courier"/>
              </a:rPr>
              <a:t>목표: 효과 검증 및 학습
1. 파일럿 그룹 선정 (2-3명)
   - 오픈 마인드를 가진 개발자
   - 다양한 경력 수준 포함
2. 작은 프로젝트 선택
   - 위험도 낮은 작업
   - 명확한 성공 지표
   - 2주 내 완료 가능
3. 데이터 수집
   - 작업 시간 측정
   - 코드 품질 평가
   - 팀원 만족도 조사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Q9: Phase 2-3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2: 확대 적용 (4주)</a:t>
            </a:r>
          </a:p>
          <a:p>
            <a:pPr lvl="0" indent="0">
              <a:buNone/>
            </a:pPr>
            <a:r>
              <a:rPr>
                <a:latin typeface="Courier"/>
              </a:rPr>
              <a:t>1. 성과 공유
   - 파일럿 결과 발표
   - 구체적인 수치 제시
2. 교육 프로그램
   - 기본 사용법 워크샵
   - 베스트 프랙티스 가이드
   - 내부 Q&amp;A 세션
3. 지원 체계
   - Slack 채널 개설
   - 주간 팁 공유
   - 문제 해결 도움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Q9: Phase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3: 표준화 (2개월)</a:t>
            </a:r>
          </a:p>
          <a:p>
            <a:pPr lvl="0" indent="0">
              <a:buNone/>
            </a:pPr>
            <a:r>
              <a:rPr>
                <a:latin typeface="Courier"/>
              </a:rPr>
              <a:t>1. 가이드라인 수립
   - 코드 리뷰 절차
   - 보안 체크리스트
   - 프롬프트 템플릿
2. 측정 및 개선
   - KPI 모니터링
   - 정기 회고
   - 프로세스 개선
3. 문화 정착
   - 성공 사례 축하
   - 지식 공유 문화
   - 지속적 학습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Q10: 기존 프로젝트 적용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❌ 피해야 할 상황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- 프로덕션 환경 직접 적용
- 중요 기능의 대규모 리팩토링
- 마감 임박한 프로젝트
- 팀원 모두가 미경험</a:t>
            </a:r>
          </a:p>
          <a:p>
            <a:pPr lvl="0" indent="0" marL="0">
              <a:buNone/>
            </a:pPr>
            <a:r>
              <a:rPr b="1"/>
              <a:t>✅ 안전한 시작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1. 새로운 기능 개발
2. 테스트 코드 작성
3. 문서화 작업
4. 버그 수정 (작은 범위)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Q10: 단계별 확대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Week 1-2: 사이드 프로젝트
  → 기본 사용법 익히기
Week 3-4: 개발 환경 작업
  → 테스트, 문서화
Month 2: 새로운 기능
  → 격리된 모듈 개발
Month 3+: 핵심 기능
  → 충분한 경험 축적 후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기술적 질문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Q11: 지원하는 언어와 프레임워크</a:t>
            </a:r>
          </a:p>
          <a:p>
            <a:pPr lvl="0" indent="0" marL="0">
              <a:buNone/>
            </a:pPr>
            <a:r>
              <a:rPr b="1"/>
              <a:t>완벽 지원 언어</a:t>
            </a:r>
            <a:r>
              <a:rPr/>
              <a:t>: - JavaScript/TypeScript - Python - Java, C#, Go, Rust - PHP, Ruby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Q11: 프레임워크 지원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웹 프론트엔드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✅ React, Next.js
✅ Vue.js, Nuxt
✅ Angular, Svelte</a:t>
            </a:r>
          </a:p>
          <a:p>
            <a:pPr lvl="0" indent="0" marL="0">
              <a:buNone/>
            </a:pPr>
            <a:r>
              <a:rPr b="1"/>
              <a:t>백엔드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✅ Node.js (Express, Nest.js, Fastify)
✅ Python (Django, Flask, FastAPI)
✅ Java (Spring Boot)
✅ Go (Gin, Echo)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Q12: 레거시 코드베이스 활용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✅ 효과적인 작업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1. 코드 이해 및 분석
   - 복잡한 로직 설명 요청
   - 의존성 분석
   - 리팩토링 제안
2. 테스트 코드 추가
   - 기존 코드용 테스트 생성
   - 커버리지 향상
3. 문서화
   - 코드 주석 자동 생성
   - API 문서 작성
4. 점진적 개선
   - 작은 단위 리팩토링
   - 타입 추가 (TypeScript 전환)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Q12: 성공 사례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시나리오</a:t>
            </a:r>
            <a:r>
              <a:rPr/>
              <a:t>: 10년 된 jQuery 코드를 React로 마이그레이션</a:t>
            </a:r>
          </a:p>
          <a:p>
            <a:pPr lvl="0" indent="0" marL="0">
              <a:buNone/>
            </a:pPr>
            <a:r>
              <a:rPr b="1"/>
              <a:t>전략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Week 1-2: 코드 분석 및 이해
  - AI로 코드 구조 파악
  - 컴포넌트 단위 식별
Week 3-4: 작은 컴포넌트부터 전환
  - 독립적인 UI 요소
  - 충분한 테스트 작성
Month 2-3: 점진적 확대
  - 복잡한 컴포넌트 전환
  - 병렬 실행으로 위험 관리</a:t>
            </a:r>
          </a:p>
          <a:p>
            <a:pPr lvl="0" indent="0" marL="0">
              <a:buNone/>
            </a:pPr>
            <a:r>
              <a:rPr b="1"/>
              <a:t>결과</a:t>
            </a:r>
            <a:r>
              <a:rPr/>
              <a:t>: 6개월 → 2개월 (67% 시간 절감)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트러블슈팅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Q13: AI가 잘못된 코드를 생성하면?</a:t>
            </a:r>
          </a:p>
          <a:p>
            <a:pPr lvl="0" indent="0" marL="0">
              <a:buNone/>
            </a:pPr>
            <a:r>
              <a:rPr b="1"/>
              <a:t>즉시 조치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❌ 맹목적 수용
✅ 항상 코드 리뷰
✅ 실행 및 테스트
✅ 이해 안 되면 질문</a:t>
            </a:r>
          </a:p>
          <a:p>
            <a:pPr lvl="0" indent="0" marL="0">
              <a:buNone/>
            </a:pPr>
            <a:r>
              <a:rPr b="1"/>
              <a:t>피드백 제공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"이 코드는 XSS 취약점이 있어.
입력값 검증을 추가해줘."
"이 방식은 O(n²) 복잡도야.
더 효율적인 알고리즘 사용해줘."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Q13: Git 안전망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AI 작업 전 커밋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.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"Before AI changes"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AI 작업 후 문제 발생 시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diff  </a:t>
            </a:r>
            <a:r>
              <a:rPr i="1">
                <a:solidFill>
                  <a:srgbClr val="60A0B0"/>
                </a:solidFill>
                <a:latin typeface="Courier"/>
              </a:rPr>
              <a:t># 변경사항 확인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reset </a:t>
            </a:r>
            <a:r>
              <a:rPr>
                <a:solidFill>
                  <a:srgbClr val="7D9029"/>
                </a:solidFill>
                <a:latin typeface="Courier"/>
              </a:rPr>
              <a:t>--hard</a:t>
            </a:r>
            <a:r>
              <a:rPr>
                <a:latin typeface="Courier"/>
              </a:rPr>
              <a:t> HEAD  </a:t>
            </a:r>
            <a:r>
              <a:rPr i="1">
                <a:solidFill>
                  <a:srgbClr val="60A0B0"/>
                </a:solidFill>
                <a:latin typeface="Courier"/>
              </a:rPr>
              <a:t># 되돌리기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Q14: 원하는 결과를 못 얻을 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프롬프트 구성 요소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1. 명확한 목표
   "~를 만들어줘"
2. 기술 스택 명시
   "React와 TypeScript 사용"
3. 구체적 요구사항
   "반응형 디자인"
   "WCAG 접근성 준수"
4. 제약 조건
   "외부 라이브러리 최소화"
5. 예상 결과
   "클릭 시 모달 팝업"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Q15: 성능/속도 문제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느린 응답 시간 해결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원인:
- 프로젝트 크기가 매우 큼
- 너무 많은 파일 참조
- 복잡한 요청
해결:
✅ 요청을 작은 단위로 분할
✅ 관련 파일만 컨텍스트에 포함
✅ 점진적 작업 진행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핵심 메시지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패러다임의 전환</a:t>
            </a:r>
          </a:p>
          <a:p>
            <a:pPr lvl="0" indent="0">
              <a:buNone/>
            </a:pPr>
            <a:r>
              <a:rPr>
                <a:latin typeface="Courier"/>
              </a:rPr>
              <a:t>기존: "어떻게(How)" 구현할까?
새로운: "무엇을(What)" 만들까?
개발자의 역할 변화:
타이핑 속도 → 문제 정의 능력
코드 암기 → 아키텍처 설계
반복 작업 → 품질 검증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성공적인 도입 원칙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점진적 시작</a:t>
            </a:r>
          </a:p>
          <a:p>
            <a:pPr lvl="0" indent="0">
              <a:buNone/>
            </a:pPr>
            <a:r>
              <a:rPr>
                <a:latin typeface="Courier"/>
              </a:rPr>
              <a:t>Day 1: 간단한 컴포넌트 생성
Week 1: 작은 기능 구현
Month 1: 실제 프로젝트 적용
Month 3: 팀 전체 확대</a:t>
            </a:r>
          </a:p>
          <a:p>
            <a:pPr lvl="0" indent="0" marL="0">
              <a:buNone/>
            </a:pPr>
            <a:r>
              <a:rPr b="1"/>
              <a:t>2. 검증 문화</a:t>
            </a:r>
          </a:p>
          <a:p>
            <a:pPr lvl="0" indent="0">
              <a:buNone/>
            </a:pPr>
            <a:r>
              <a:rPr>
                <a:latin typeface="Courier"/>
              </a:rPr>
              <a:t>AI 생성 → 개발자 리뷰 → 테스트 → 배포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측정 가능한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1개월 후</a:t>
            </a:r>
            <a:r>
              <a:rPr/>
              <a:t>: - [ ] 기본 기능 숙달 - [ ] 생산성 20% 향상 - [ ] 작업 시간 단축 체감</a:t>
            </a:r>
          </a:p>
          <a:p>
            <a:pPr lvl="0" indent="0" marL="0">
              <a:buNone/>
            </a:pPr>
            <a:r>
              <a:rPr b="1"/>
              <a:t>3개월 후</a:t>
            </a:r>
            <a:r>
              <a:rPr/>
              <a:t>: - [ ] 고급 기능 활용 - [ ] 생산성 40% 향상 - [ ] 팀원 1명 이상 동참</a:t>
            </a:r>
          </a:p>
          <a:p>
            <a:pPr lvl="0" indent="0" marL="0">
              <a:buNone/>
            </a:pPr>
            <a:r>
              <a:rPr b="1"/>
              <a:t>6개월 후</a:t>
            </a:r>
            <a:r>
              <a:rPr/>
              <a:t>: - [ ] 워크플로우 최적화 - [ ] 생산성 50%+ 향상 - [ ] ROI 명확히 입증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학습 리소스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공식 문서</a:t>
            </a:r>
            <a:r>
              <a:rPr/>
              <a:t>: - Cursor: cursor.sh/docs - Claude Code: claude.ai/code - Cline: github.com/cline/cline</a:t>
            </a:r>
          </a:p>
          <a:p>
            <a:pPr lvl="0" indent="0" marL="0">
              <a:buNone/>
            </a:pPr>
            <a:r>
              <a:rPr b="1"/>
              <a:t>커뮤니티</a:t>
            </a:r>
            <a:r>
              <a:rPr/>
              <a:t>: - Discord 서버 - Reddit: r/ai_coding - Twitter: #VibeCoding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단계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지금 바로 시작하기</a:t>
            </a:r>
          </a:p>
          <a:p>
            <a:pPr lvl="0" indent="0" marL="0">
              <a:buNone/>
            </a:pPr>
            <a:r>
              <a:rPr b="1"/>
              <a:t>오늘 할 수 있는 일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1. 도구 선택 (Cursor 추천)
2. 계정 생성 및 설치
3. 첫 번째 프롬프트 실행
4. "Hello World" 생성해보기</a:t>
            </a:r>
          </a:p>
          <a:p>
            <a:pPr lvl="0" indent="0" marL="0">
              <a:buNone/>
            </a:pPr>
            <a:r>
              <a:rPr b="1"/>
              <a:t>이번 주 계획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1. 기본 기능 익히기
2. 간단한 컴포넌트 만들기
3. 코드 리뷰 습관 들이기
4. 성공 경험 기록하기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마무리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코딩은 단순한 도구 사용법이 아니라, </a:t>
            </a:r>
            <a:r>
              <a:rPr b="1"/>
              <a:t>개발 방식의 근본적인 변화</a:t>
            </a:r>
            <a:r>
              <a:rPr/>
              <a:t>입니다.</a:t>
            </a:r>
          </a:p>
          <a:p>
            <a:pPr lvl="0" indent="0" marL="0">
              <a:buNone/>
            </a:pPr>
            <a:r>
              <a:rPr b="1"/>
              <a:t>핵심은</a:t>
            </a:r>
            <a:r>
              <a:rPr/>
              <a:t>: - 올바른 도구 선택 - 점진적인 학습 - 지속적인 검증 - 팀과의 협력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마무리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시작이 반</a:t>
            </a:r>
            <a:r>
              <a:rPr/>
              <a:t>입니다.</a:t>
            </a:r>
          </a:p>
          <a:p>
            <a:pPr lvl="0" indent="0" marL="0">
              <a:buNone/>
            </a:pPr>
            <a:r>
              <a:rPr/>
              <a:t>오늘 바로 첫 걸음을 내딛어 보세요.</a:t>
            </a:r>
          </a:p>
          <a:p>
            <a:pPr lvl="0" indent="0" marL="0">
              <a:buNone/>
            </a:pPr>
            <a:r>
              <a:rPr b="1"/>
              <a:t>“The best time to start was yesterday. The next best time is now.”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감사합니다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질문이 있으시면 언제든지 환영합니다!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2025-11-16T04:49:50Z</dcterms:created>
  <dcterms:modified xsi:type="dcterms:W3CDTF">2025-11-16T04:49:50Z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