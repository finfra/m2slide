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5. 세대별 비교 및 선택 가이드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종합 비교 테이블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900"/>
                <a:gridCol w="1498600"/>
                <a:gridCol w="1498600"/>
                <a:gridCol w="1498600"/>
                <a:gridCol w="149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ChatGPT(0세대)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Copilot(0.5세대)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Cursor/Cline(1세대)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Code/CLI(2세대)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인터페이스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인라인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터미널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코드 제안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복사-붙여넣기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실시간 자동완성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멀티라인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파일 편집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불가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단일 파일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 (제한적)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 (완전)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프로젝트 이해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현재 파일만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전체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+ 히스토리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종합 비교 테이블 (계속)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Cursor/Cline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Code/CLI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명령 실행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불가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불가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가능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자동화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제안만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자동화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Git 통합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통합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비용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무료/유료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$10/월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$20/월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$20/월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학습 곡선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중간-높음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사용 시나리오별 비교: 웹 개발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시나리오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이유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React 컴포넌트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Cursor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시각적 프리뷰 필요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 엔드포인트 개발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 + 테스트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전체 페이지 구현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Cursor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 피드백 중요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백엔드 로직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복잡한 비즈니스 로직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DB 마이그레이션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Gemini CLI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스크립트 자동화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사용 시나리오별 비교: DevOps/인프라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시나리오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이유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Dockerfile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빌드 + 테스트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Kubernetes 설정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Gemini CLI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YAML 다중 파일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CI/CD 파이프라인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스크립트 자동화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인프라 모니터링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Gemini CLI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서버 작업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Terraform 코드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 관리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프로필별 추천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초보 개발자 (경력 &lt; 1년)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1세대 (Cursor)
이유:
- GUI 환경이 직관적
- 시각적 피드백으로 학습 효과
- 코드 변경사항 쉽게 확인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프로필별 추천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주니어 개발자 (경력 1-3년)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1세대 → 1+2세대 병행
경로:
1. Cursor로 시작
2. 터미널 익숙해지면 Claude Code 추가
3. 프론트는 Cursor, 백엔드는 Claude Code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프로필별 추천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중급 개발자 (경력 3-5년)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2세대 (Claude Code) 주력
이유:
- 생산성 극대화
- 멀티 프로젝트 관리
- 자동화 워크플로우 구축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프로필별 추천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시니어 개발자 (경력 5년+)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2세대 + 1세대 보조
전략:
- Claude Code로 대부분 작업
- 복잡한 UI는 Cursor로 시각 확인
- 팀 전체의 워크플로우 최적화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프로필별 추천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DevOps 엔지니어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2세대 (Gemini CLI/Claude Code)
이유:
- 인프라 자동화 필수
- 서버 환경 작업
- 스크립트 기반 작업</a:t>
            </a:r>
          </a:p>
          <a:p>
            <a:pPr lvl="0" indent="0" marL="0">
              <a:buNone/>
            </a:pPr>
            <a:r>
              <a:rPr b="1"/>
              <a:t>프론트엔드 전문가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1세대 (Cursor) 주력
이유:
- UI 프리뷰 필수
- 디자인 시스템 작업
- 브라우저 DevTools 활용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의사결정 트리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시작
  ↓
Q1: 터미널 사용이 익숙한가?
  ├─ 예 → Q2로
  └─ 아니오 → 1세대 (Cursor) 추천
        ↓
Q2: 여러 프로젝트를 동시에 관리하는가?
  ├─ 예 → 2세대 (Claude Code) 추천
  └─ 아니오 → Q3로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의사결정 트리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Q3: 주로 작업하는 영역은?
  ├─ 프론트엔드 → 1세대 (Cursor)
  ├─ 백엔드/풀스택 → 2세대 (Claude Code)
  └─ DevOps/인프라 → 2세대 (Gemini CLI)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비용 vs 효과 분석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월간 비용 (2024년 기준)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도구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ChatGPT Plus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기본 채팅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GitHub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자동완성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 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기반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Gemini Advanced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+ 다른 서비스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ROI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예시: 중급 개발자 (월 기준)</a:t>
            </a:r>
          </a:p>
          <a:p>
            <a:pPr lvl="0" indent="0">
              <a:buNone/>
            </a:pPr>
            <a:r>
              <a:rPr>
                <a:latin typeface="Courier"/>
              </a:rPr>
              <a:t>기존 작업 시간: 160시간/월
바이브 코딩 도입 후: 100시간/월 (37% 절감)
절감 시간: 60시간/월
개발자 시급 (평균): $50
절감 비용: 60시간 × $50 = $3,000/월
도구 비용: $20/월
ROI: ($3,000 - $20) / $20 × 100 = 14,900%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전환 비용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1세대 → 2세대 전환</a:t>
            </a:r>
            <a:r>
              <a:rPr/>
              <a:t> - 학습 시간: 약 1주일 - 생산성 회복: 2-3주 - 총 전환 비용: 약 20-30시간</a:t>
            </a:r>
          </a:p>
          <a:p>
            <a:pPr lvl="0" indent="0" marL="0">
              <a:buNone/>
            </a:pPr>
            <a:r>
              <a:rPr b="1"/>
              <a:t>예상 회수 기간</a:t>
            </a:r>
            <a:r>
              <a:rPr/>
              <a:t>: 첫 달 내 회수 가능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팀 도입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소규모 팀 (1-5명)</a:t>
            </a:r>
          </a:p>
          <a:p>
            <a:pPr lvl="0" indent="0" marL="0">
              <a:buNone/>
            </a:pPr>
            <a:r>
              <a:rPr b="1"/>
              <a:t>전략</a:t>
            </a:r>
            <a:r>
              <a:rPr/>
              <a:t>: 개인 선택 존중</a:t>
            </a:r>
          </a:p>
          <a:p>
            <a:pPr lvl="0" indent="0">
              <a:buNone/>
            </a:pPr>
            <a:r>
              <a:rPr>
                <a:latin typeface="Courier"/>
              </a:rPr>
              <a:t>1. 각자 선호하는 도구 사용
2. 월 1회 경험 공유 세션
3. 점진적으로 표준화</a:t>
            </a:r>
          </a:p>
          <a:p>
            <a:pPr lvl="0" indent="0" marL="0">
              <a:buNone/>
            </a:pPr>
            <a:r>
              <a:rPr b="1"/>
              <a:t>추천 조합</a:t>
            </a:r>
            <a:r>
              <a:rPr/>
              <a:t>: - 프론트 2명: Cursor - 백엔드 2명: Claude Code - 풀스택 1명: 둘 다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팀 도입 전략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중형 팀 (6-20명)</a:t>
            </a:r>
          </a:p>
          <a:p>
            <a:pPr lvl="0" indent="0" marL="0">
              <a:buNone/>
            </a:pPr>
            <a:r>
              <a:rPr b="1"/>
              <a:t>전략</a:t>
            </a:r>
            <a:r>
              <a:rPr/>
              <a:t>: 역할별 표준화</a:t>
            </a:r>
          </a:p>
          <a:p>
            <a:pPr lvl="0" indent="0">
              <a:buNone/>
            </a:pPr>
            <a:r>
              <a:rPr>
                <a:latin typeface="Courier"/>
              </a:rPr>
              <a:t>1. 포지션별 도구 가이드 작성
2. 온보딩에 도구 교육 포함
3. 내부 베스트 프랙티스 문서화</a:t>
            </a:r>
          </a:p>
          <a:p>
            <a:pPr lvl="0" indent="0" marL="0">
              <a:buNone/>
            </a:pPr>
            <a:r>
              <a:rPr b="1"/>
              <a:t>추천 조합</a:t>
            </a:r>
            <a:r>
              <a:rPr/>
              <a:t>: - 주니어: Cursor (통일) - 시니어: 자유 선택 - DevOps: Claude Code (통일)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팀 도입 전략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대형 팀 (20명+)</a:t>
            </a:r>
          </a:p>
          <a:p>
            <a:pPr lvl="0" indent="0" marL="0">
              <a:buNone/>
            </a:pPr>
            <a:r>
              <a:rPr b="1"/>
              <a:t>전략</a:t>
            </a:r>
            <a:r>
              <a:rPr/>
              <a:t>: 공식 도구 선정</a:t>
            </a:r>
          </a:p>
          <a:p>
            <a:pPr lvl="0" indent="0">
              <a:buNone/>
            </a:pPr>
            <a:r>
              <a:rPr>
                <a:latin typeface="Courier"/>
              </a:rPr>
              <a:t>1. 2-3개 도구로 표준화
2. 라이선스 대량 구매
3. 전담 교육 프로그램
4. 내부 Slack 채널 운영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처음 시작하는 경우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Week 1-2: 기본 익히기</a:t>
            </a:r>
          </a:p>
          <a:p>
            <a:pPr lvl="0" indent="0">
              <a:buNone/>
            </a:pPr>
            <a:r>
              <a:rPr>
                <a:latin typeface="Courier"/>
              </a:rPr>
              <a:t>1. Cursor로 시작 (진입 장벽 낮음)
2. 간단한 컴포넌트 만들어보기
3. 코드 리뷰 습관 들이기</a:t>
            </a:r>
          </a:p>
          <a:p>
            <a:pPr lvl="0" indent="0" marL="0">
              <a:buNone/>
            </a:pPr>
            <a:r>
              <a:rPr b="1"/>
              <a:t>Week 3-4: 고급 기능</a:t>
            </a:r>
          </a:p>
          <a:p>
            <a:pPr lvl="0" indent="0">
              <a:buNone/>
            </a:pPr>
            <a:r>
              <a:rPr>
                <a:latin typeface="Courier"/>
              </a:rPr>
              <a:t>1. Composer 모드 활용
2. 멀티파일 작업 시도
3. 프로젝트 전체 리팩토링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처음 시작하는 경우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Month 2: 2세대 시도</a:t>
            </a:r>
          </a:p>
          <a:p>
            <a:pPr lvl="0" indent="0">
              <a:buNone/>
            </a:pPr>
            <a:r>
              <a:rPr>
                <a:latin typeface="Courier"/>
              </a:rPr>
              <a:t>1. Claude Code 설치
2. 백엔드 작업부터 시작
3. 1세대와 병행 사용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생산성 극대화 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1세대 사용 시</a:t>
            </a:r>
            <a:r>
              <a:rPr/>
              <a:t> - 단축키 마스터하기 - Composer 모드 적극 활용 - diff 모드로 변경사항 항상 확인</a:t>
            </a:r>
          </a:p>
          <a:p>
            <a:pPr lvl="0" indent="0" marL="0">
              <a:buNone/>
            </a:pPr>
            <a:r>
              <a:rPr b="1"/>
              <a:t>2세대 사용 시</a:t>
            </a:r>
            <a:r>
              <a:rPr/>
              <a:t> - 명확한 요구사항 전달 - 작업을 작은 단위로 분할 - Git 커밋 자주 하기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마이그레이션 가이드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ChatGPT → Cursor</a:t>
            </a:r>
          </a:p>
          <a:p>
            <a:pPr lvl="0" indent="0" marL="0">
              <a:buNone/>
            </a:pPr>
            <a:r>
              <a:rPr b="1"/>
              <a:t>준비물</a:t>
            </a:r>
            <a:r>
              <a:rPr/>
              <a:t> - VSCode 사용 경험 - 기본적인 Git 지식</a:t>
            </a:r>
          </a:p>
          <a:p>
            <a:pPr lvl="0" indent="0" marL="0">
              <a:buNone/>
            </a:pPr>
            <a:r>
              <a:rPr b="1"/>
              <a:t>마이그레이션 단계</a:t>
            </a:r>
            <a:r>
              <a:rPr/>
              <a:t> 1. Cursor 설치 2. 기존 프로젝트 열기 3. Cmd/Ctrl + K로 시작 4. 간단한 요청부터 시작</a:t>
            </a:r>
          </a:p>
          <a:p>
            <a:pPr lvl="0" indent="0" marL="0">
              <a:buNone/>
            </a:pPr>
            <a:r>
              <a:rPr b="1"/>
              <a:t>예상 적응 기간</a:t>
            </a:r>
            <a:r>
              <a:rPr/>
              <a:t>: 1-2일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마이그레이션 가이드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Cursor → Claude Code</a:t>
            </a:r>
          </a:p>
          <a:p>
            <a:pPr lvl="0" indent="0" marL="0">
              <a:buNone/>
            </a:pPr>
            <a:r>
              <a:rPr b="1"/>
              <a:t>준비물</a:t>
            </a:r>
            <a:r>
              <a:rPr/>
              <a:t> - 터미널 기본 명령어 - Git 중급 이상 지식 - API 키 발급</a:t>
            </a:r>
          </a:p>
          <a:p>
            <a:pPr lvl="0" indent="0" marL="0">
              <a:buNone/>
            </a:pPr>
            <a:r>
              <a:rPr b="1"/>
              <a:t>마이그레이션 단계</a:t>
            </a:r>
            <a:r>
              <a:rPr/>
              <a:t> 1. Claude Code 설치 2. 환경 변수 설정 3. 터미널에서 실행 4. 작은 프로젝트부터 시작</a:t>
            </a:r>
          </a:p>
          <a:p>
            <a:pPr lvl="0" indent="0" marL="0">
              <a:buNone/>
            </a:pPr>
            <a:r>
              <a:rPr b="1"/>
              <a:t>예상 적응 기간</a:t>
            </a:r>
            <a:r>
              <a:rPr/>
              <a:t>: 1주일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자주 묻는 질문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Q: 두 가지를 동시에 사용해도 되나요?</a:t>
            </a:r>
          </a:p>
          <a:p>
            <a:pPr lvl="0" indent="0" marL="0">
              <a:buNone/>
            </a:pPr>
            <a:r>
              <a:rPr/>
              <a:t>A: 네, 오히려 권장합니다. 상황에 맞게 적절한 도구를 선택하세요.</a:t>
            </a:r>
          </a:p>
          <a:p>
            <a:pPr lvl="0" indent="0" marL="0">
              <a:buNone/>
            </a:pPr>
            <a:r>
              <a:rPr b="1"/>
              <a:t>Q: 비용이 부담됩니다. 무료 대안은?</a:t>
            </a:r>
          </a:p>
          <a:p>
            <a:pPr lvl="0" indent="0" marL="0">
              <a:buNone/>
            </a:pPr>
            <a:r>
              <a:rPr/>
              <a:t>A: ChatGPT 무료 버전으로 시작하거나, Claude Code의 무료 티어를 활용하세요.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자주 묻는 질문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Q: 회사에서 도입하려면?</a:t>
            </a:r>
          </a:p>
          <a:p>
            <a:pPr lvl="0" indent="0" marL="0">
              <a:buNone/>
            </a:pPr>
            <a:r>
              <a:rPr/>
              <a:t>A: 소규모 파일럿 프로젝트로 시작하고, 성과를 측정한 후 확대하세요.</a:t>
            </a:r>
          </a:p>
          <a:p>
            <a:pPr lvl="0" indent="0" marL="0">
              <a:buNone/>
            </a:pPr>
            <a:r>
              <a:rPr b="1"/>
              <a:t>Q: 보안은 괜찮나요?</a:t>
            </a:r>
          </a:p>
          <a:p>
            <a:pPr lvl="0" indent="0" marL="0">
              <a:buNone/>
            </a:pPr>
            <a:r>
              <a:rPr/>
              <a:t>A: 민감한 정보는 절대 공유하지 말고, 기업용 라이선스를 고려하세요.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